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17fcf28f76944da" /><Relationship Type="http://schemas.openxmlformats.org/officeDocument/2006/relationships/extended-properties" Target="/docProps/app.xml" Id="R9c8a9aa801c54a4c" /><Relationship Type="http://schemas.openxmlformats.org/officeDocument/2006/relationships/officeDocument" Target="/ppt/presentation.xml" Id="Rf262afd8ea384d7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b01c9f644c4ae0"/>
  </p:sldMasterIdLst>
  <p:notesMasterIdLst>
    <p:notesMasterId xmlns:r="http://schemas.openxmlformats.org/officeDocument/2006/relationships" r:id="R26b729ff481546d8"/>
  </p:notesMasterIdLst>
  <p:sldIdLst>
    <p:sldId xmlns:r="http://schemas.openxmlformats.org/officeDocument/2006/relationships" id="256" r:id="R97b34b63580a4476"/>
    <p:sldId xmlns:r="http://schemas.openxmlformats.org/officeDocument/2006/relationships" id="257" r:id="R07a2963bc1284579"/>
    <p:sldId xmlns:r="http://schemas.openxmlformats.org/officeDocument/2006/relationships" id="258" r:id="R076ce3fbbb9e4d29"/>
    <p:sldId xmlns:r="http://schemas.openxmlformats.org/officeDocument/2006/relationships" id="259" r:id="R618f753d3e1941ec"/>
    <p:sldId xmlns:r="http://schemas.openxmlformats.org/officeDocument/2006/relationships" id="260" r:id="Rbdc14bf3a7d34568"/>
    <p:sldId xmlns:r="http://schemas.openxmlformats.org/officeDocument/2006/relationships" id="261" r:id="R4136a88897c9456b"/>
    <p:sldId xmlns:r="http://schemas.openxmlformats.org/officeDocument/2006/relationships" id="262" r:id="Rab6ab1b3b217438c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b01c9f644c4ae0" /><Relationship Type="http://schemas.openxmlformats.org/officeDocument/2006/relationships/theme" Target="/ppt/theme/theme1.xml" Id="Rc67877f722d647d1" /><Relationship Type="http://schemas.openxmlformats.org/officeDocument/2006/relationships/notesMaster" Target="/ppt/notesMasters/notesMaster1.xml" Id="R26b729ff481546d8" /><Relationship Type="http://schemas.openxmlformats.org/officeDocument/2006/relationships/presProps" Target="/ppt/presProps.xml" Id="R5de4ca46dd1d4b93" /><Relationship Type="http://schemas.openxmlformats.org/officeDocument/2006/relationships/viewProps" Target="/ppt/viewProps.xml" Id="Re6b6d2e105084e19" /><Relationship Type="http://schemas.openxmlformats.org/officeDocument/2006/relationships/tableStyles" Target="/ppt/tableStyles.xml" Id="Rae6b05558a7c4be3" /><Relationship Type="http://schemas.openxmlformats.org/officeDocument/2006/relationships/slide" Target="/ppt/slides/slide1.xml" Id="R97b34b63580a4476" /><Relationship Type="http://schemas.openxmlformats.org/officeDocument/2006/relationships/slide" Target="/ppt/slides/slide2.xml" Id="R07a2963bc1284579" /><Relationship Type="http://schemas.openxmlformats.org/officeDocument/2006/relationships/slide" Target="/ppt/slides/slide3.xml" Id="R076ce3fbbb9e4d29" /><Relationship Type="http://schemas.openxmlformats.org/officeDocument/2006/relationships/slide" Target="/ppt/slides/slide4.xml" Id="R618f753d3e1941ec" /><Relationship Type="http://schemas.openxmlformats.org/officeDocument/2006/relationships/slide" Target="/ppt/slides/slide5.xml" Id="Rbdc14bf3a7d34568" /><Relationship Type="http://schemas.openxmlformats.org/officeDocument/2006/relationships/slide" Target="/ppt/slides/slide6.xml" Id="R4136a88897c9456b" /><Relationship Type="http://schemas.openxmlformats.org/officeDocument/2006/relationships/slide" Target="/ppt/slides/slide7.xml" Id="Rab6ab1b3b21743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c0f8f75114144a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dfcbf8087045ac" /><Relationship Type="http://schemas.openxmlformats.org/officeDocument/2006/relationships/notesMaster" Target="/ppt/notesMasters/notesMaster1.xml" Id="R20135a425e854f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52e2aa129b4fab" /><Relationship Type="http://schemas.openxmlformats.org/officeDocument/2006/relationships/notesMaster" Target="/ppt/notesMasters/notesMaster1.xml" Id="R3c6b0f6361d343b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70108bd4a764a3a" /><Relationship Type="http://schemas.openxmlformats.org/officeDocument/2006/relationships/notesMaster" Target="/ppt/notesMasters/notesMaster1.xml" Id="R7f3f9ce3ac2144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5b78ef3615422e" /><Relationship Type="http://schemas.openxmlformats.org/officeDocument/2006/relationships/notesMaster" Target="/ppt/notesMasters/notesMaster1.xml" Id="R053a090aec5947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148cb12fbb741e2" /><Relationship Type="http://schemas.openxmlformats.org/officeDocument/2006/relationships/notesMaster" Target="/ppt/notesMasters/notesMaster1.xml" Id="R76ac1c5e4806484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4a6ea3f59f540b8" /><Relationship Type="http://schemas.openxmlformats.org/officeDocument/2006/relationships/notesMaster" Target="/ppt/notesMasters/notesMaster1.xml" Id="R83302a5d16e24c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da4aed7d32c4541" /><Relationship Type="http://schemas.openxmlformats.org/officeDocument/2006/relationships/notesMaster" Target="/ppt/notesMasters/notesMaster1.xml" Id="R7701b7e8284648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7a0df672d646e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ee3dac6509324ce2" /><Relationship Type="http://schemas.openxmlformats.org/officeDocument/2006/relationships/slideLayout" Target="/ppt/slideLayouts/slideLayout2.xml" Id="R7eaddb28022f471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addb28022f471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95abf31aea407f" /><Relationship Type="http://schemas.openxmlformats.org/officeDocument/2006/relationships/notesSlide" Target="/ppt/notesSlides/notesSlide1.xml" Id="Rb3d0d24958fe40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401978401048e2" /><Relationship Type="http://schemas.openxmlformats.org/officeDocument/2006/relationships/notesSlide" Target="/ppt/notesSlides/notesSlide2.xml" Id="R2d24972429164eb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8c1a922f1f46dd" /><Relationship Type="http://schemas.openxmlformats.org/officeDocument/2006/relationships/notesSlide" Target="/ppt/notesSlides/notesSlide3.xml" Id="Rf29aa252f63b47a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f1a3a9be88474c" /><Relationship Type="http://schemas.openxmlformats.org/officeDocument/2006/relationships/notesSlide" Target="/ppt/notesSlides/notesSlide4.xml" Id="Re5457f9129164c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d5c679ef7747d7" /><Relationship Type="http://schemas.openxmlformats.org/officeDocument/2006/relationships/notesSlide" Target="/ppt/notesSlides/notesSlide5.xml" Id="R068beb56171a407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c3c92cb0c049db" /><Relationship Type="http://schemas.openxmlformats.org/officeDocument/2006/relationships/notesSlide" Target="/ppt/notesSlides/notesSlide6.xml" Id="R083c4c35ebcb40e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f0f5fbc154453c" /><Relationship Type="http://schemas.openxmlformats.org/officeDocument/2006/relationships/notesSlide" Target="/ppt/notesSlides/notesSlide7.xml" Id="Rf8b5a865730b44b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843CE4-EC50-43F6-84AF-9AD92580A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oundRect">
            <a:avLst>
              <a:gd name="adj" fmla="val 741"/>
            </a:avLst>
          </a:prstGeom>
          <a:solidFill xmlns:a="http://schemas.openxmlformats.org/drawingml/2006/main">
            <a:srgbClr val="07152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F87F9C-3A49-422C-8028-DA51DF3B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8667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6C55B"/>
                </a:solidFill>
              </a:defRPr>
            </a:pPr>
            <a:r>
              <a:rPr sz="1500" b="1">
                <a:solidFill>
                  <a:srgbClr val="F6C55B"/>
                </a:solidFill>
              </a:rPr>
              <a:t>CS Final 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37D1D3-96A8-4C1E-BF5C-E31D30E4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8667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FFFFFF"/>
                </a:solidFill>
              </a:defRPr>
            </a:pPr>
            <a:r>
              <a:rPr sz="6000" b="1">
                <a:solidFill>
                  <a:srgbClr val="FFFFFF"/>
                </a:solidFill>
              </a:rPr>
              <a:t>Mukwano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793BFB-C1E0-4ADF-8831-BF7DAF9B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62865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B8E6D3"/>
                </a:solidFill>
              </a:defRPr>
            </a:pPr>
            <a:r>
              <a:rPr sz="2250">
                <a:solidFill>
                  <a:srgbClr val="B8E6D3"/>
                </a:solidFill>
              </a:rPr>
              <a:t>Governance-first community funding for diaspora circles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D72CA-29CA-4E62-8E88-5EDFE71DD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68389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5F1E8"/>
                </a:solidFill>
              </a:defRPr>
            </a:pPr>
            <a:r>
              <a:rPr sz="1800">
                <a:solidFill>
                  <a:srgbClr val="F5F1E8"/>
                </a:solidFill>
              </a:rPr>
              <a:t>• Users form circles, contribute funds, vote on proposals, and track funded projects.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7162A3-7DC3-407A-A0AB-B0392AC0D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647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5F1E8"/>
                </a:solidFill>
              </a:defRPr>
            </a:pPr>
            <a:r>
              <a:rPr sz="1800">
                <a:solidFill>
                  <a:srgbClr val="F5F1E8"/>
                </a:solidFill>
              </a:rPr>
              <a:t>• The server enforces permissions, balance mutations, and vote outcomes so the UI cannot override governance.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4E6B72-F631-432B-9D3F-B14738D1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6438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5F1E8"/>
                </a:solidFill>
              </a:defRPr>
            </a:pPr>
            <a:r>
              <a:rPr sz="1800">
                <a:solidFill>
                  <a:srgbClr val="F5F1E8"/>
                </a:solidFill>
              </a:rPr>
              <a:t>• Today’s presentation covers the system, key features, and the updates added after the initial project.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9AC5E2-A59E-4B64-9182-9679148B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381000" cy="27622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0A6166-37B4-4CC1-B889-AA28993E1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251650"/>
            <a:ext cx="86677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7B4C1"/>
                </a:solidFill>
              </a:defRPr>
            </a:pPr>
            <a:r>
              <a:rPr sz="1350">
                <a:solidFill>
                  <a:srgbClr val="A7B4C1"/>
                </a:solidFill>
              </a:rPr>
              <a:t>Team Mukwano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CB6619-6033-4F30-B90E-CECB01B8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934" y="685800"/>
            <a:ext cx="7845266" cy="1619250"/>
          </a:xfrm>
          <a:prstGeom xmlns:a="http://schemas.openxmlformats.org/drawingml/2006/main" prst="roundRect">
            <a:avLst>
              <a:gd name="adj" fmla="val 15294"/>
            </a:avLst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D5F5B0-FE26-40AA-960B-885522E9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534" y="914400"/>
            <a:ext cx="1238250" cy="1238250"/>
          </a:xfrm>
          <a:prstGeom xmlns:a="http://schemas.openxmlformats.org/drawingml/2006/main" prst="roundRect">
            <a:avLst>
              <a:gd name="adj" fmla="val 21538"/>
            </a:avLst>
          </a:prstGeom>
          <a:solidFill xmlns:a="http://schemas.openxmlformats.org/drawingml/2006/main">
            <a:srgbClr val="07152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B70289-6605-4401-B388-63103865D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200150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F6C55B"/>
                </a:solidFill>
              </a:defRPr>
            </a:pPr>
            <a:r>
              <a:rPr sz="4650" b="1">
                <a:solidFill>
                  <a:srgbClr val="F6C55B"/>
                </a:solidFill>
              </a:rPr>
              <a:t>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5CC482-D623-4663-9830-C7F0B2BA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847850"/>
            <a:ext cx="6667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F5F1E8"/>
                </a:solidFill>
              </a:defRPr>
            </a:pPr>
            <a:r>
              <a:rPr sz="1350">
                <a:solidFill>
                  <a:srgbClr val="F5F1E8"/>
                </a:solidFill>
              </a:rPr>
              <a:t>Mukwano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D62E27-5BEF-4AC0-B47C-A3D4F900C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914400"/>
            <a:ext cx="59436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071526"/>
                </a:solidFill>
              </a:defRPr>
            </a:pPr>
            <a:r>
              <a:rPr sz="2700" b="1">
                <a:solidFill>
                  <a:srgbClr val="071526"/>
                </a:solidFill>
              </a:rPr>
              <a:t>Build home together.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DC9FD5-3AFA-4DEE-9994-684316348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333500"/>
            <a:ext cx="34480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63A5F"/>
                </a:solidFill>
              </a:defRPr>
            </a:pPr>
            <a:r>
              <a:rPr sz="1500">
                <a:solidFill>
                  <a:srgbClr val="163A5F"/>
                </a:solidFill>
              </a:rPr>
              <a:t>Friendship, accountability, and collective action are the product story behind the platform.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4DE9F8-8C10-4E4A-AEA5-7A09654B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934" y="2476500"/>
            <a:ext cx="7845266" cy="6819900"/>
          </a:xfrm>
          <a:prstGeom xmlns:a="http://schemas.openxmlformats.org/drawingml/2006/main" prst="roundRect">
            <a:avLst>
              <a:gd name="adj" fmla="val 3911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5C391D-7C74-4449-887A-71A81C82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743200"/>
            <a:ext cx="7315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6C55B"/>
                </a:solidFill>
              </a:defRPr>
            </a:pPr>
            <a:r>
              <a:rPr sz="1800" b="1">
                <a:solidFill>
                  <a:srgbClr val="F6C55B"/>
                </a:solidFill>
              </a:rPr>
              <a:t>Three product pillars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E8A080-482E-4C49-8190-9828E4610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3634" y="3143250"/>
            <a:ext cx="2348389" cy="1619250"/>
          </a:xfrm>
          <a:prstGeom xmlns:a="http://schemas.openxmlformats.org/drawingml/2006/main" prst="roundRect">
            <a:avLst>
              <a:gd name="adj" fmla="val 12941"/>
            </a:avLst>
          </a:prstGeom>
          <a:solidFill xmlns:a="http://schemas.openxmlformats.org/drawingml/2006/main">
            <a:srgbClr val="153552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CF9BD8-4242-45F0-9F89-016B38CE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31470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Trust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76CB23-AD18-4B88-A57B-EB37E802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657600"/>
            <a:ext cx="1714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E6D3"/>
                </a:solidFill>
              </a:defRPr>
            </a:pPr>
            <a:r>
              <a:rPr sz="1350">
                <a:solidFill>
                  <a:srgbClr val="B8E6D3"/>
                </a:solidFill>
              </a:rPr>
              <a:t>Clear permissions and protected workflows.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9FC257-D27B-4E99-9384-99EAD793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372" y="3143250"/>
            <a:ext cx="2348389" cy="1619250"/>
          </a:xfrm>
          <a:prstGeom xmlns:a="http://schemas.openxmlformats.org/drawingml/2006/main" prst="roundRect">
            <a:avLst>
              <a:gd name="adj" fmla="val 12941"/>
            </a:avLst>
          </a:prstGeom>
          <a:solidFill xmlns:a="http://schemas.openxmlformats.org/drawingml/2006/main">
            <a:srgbClr val="173B5C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20CADF-B6CD-4F44-A84D-9179FA5C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331470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Governance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B8B30D-7D7F-4EDB-8C7B-6D9C37897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3657600"/>
            <a:ext cx="16764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E6D3"/>
                </a:solidFill>
              </a:defRPr>
            </a:pPr>
            <a:r>
              <a:rPr sz="1350">
                <a:solidFill>
                  <a:srgbClr val="B8E6D3"/>
                </a:solidFill>
              </a:rPr>
              <a:t>Vote-driven proposals with circle-defined rules.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5F039A-391D-4ACB-AE17-E606FC7F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7111" y="3143250"/>
            <a:ext cx="2348389" cy="1619250"/>
          </a:xfrm>
          <a:prstGeom xmlns:a="http://schemas.openxmlformats.org/drawingml/2006/main" prst="roundRect">
            <a:avLst>
              <a:gd name="adj" fmla="val 12941"/>
            </a:avLst>
          </a:prstGeom>
          <a:solidFill xmlns:a="http://schemas.openxmlformats.org/drawingml/2006/main">
            <a:srgbClr val="1A4166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7B82EE-37EC-436D-9985-FA8269AF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3314700"/>
            <a:ext cx="200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Execution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9F69A8-939A-44B4-B57D-E7CE891C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3657600"/>
            <a:ext cx="15430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E6D3"/>
                </a:solidFill>
              </a:defRPr>
            </a:pPr>
            <a:r>
              <a:rPr sz="1350">
                <a:solidFill>
                  <a:srgbClr val="B8E6D3"/>
                </a:solidFill>
              </a:rPr>
              <a:t>Fund projects, track progress, and close the loop.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86017F-A2CA-4D61-AC01-14EB7FAD9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3634" y="4933950"/>
            <a:ext cx="7311866" cy="4095750"/>
          </a:xfrm>
          <a:prstGeom xmlns:a="http://schemas.openxmlformats.org/drawingml/2006/main" prst="roundRect">
            <a:avLst>
              <a:gd name="adj" fmla="val 5116"/>
            </a:avLst>
          </a:prstGeom>
          <a:solidFill xmlns:a="http://schemas.openxmlformats.org/drawingml/2006/main">
            <a:srgbClr val="0C1F31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A76A067-4DD8-41A3-B7BF-9DDADCD99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124450"/>
            <a:ext cx="50292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5F1E8"/>
                </a:solidFill>
              </a:defRPr>
            </a:pPr>
            <a:r>
              <a:rPr sz="2250" b="1">
                <a:solidFill>
                  <a:srgbClr val="F5F1E8"/>
                </a:solidFill>
              </a:rPr>
              <a:t>Community money should move with the same visibility as community trust.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A28B35-5829-40B4-A97A-CBF8146D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9467850"/>
            <a:ext cx="5391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Mukwano | Final Project Presentation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530704-8E48-4922-A69B-792B1F5D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9467850"/>
            <a:ext cx="2457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Demo mode build | governance-first MVP</a:t>
            </a:r>
          </a:p>
        </p:txBody>
      </p:sp>
    </p:spTree>
    <p:extLst>
      <p:ext uri="{BB962C8B-B14F-4D97-AF65-F5344CB8AC3E}">
        <p14:creationId xmlns:p14="http://schemas.microsoft.com/office/powerpoint/2010/main" val="20682913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30CB1C9-2A84-4743-BE8B-041D02EA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6954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6C55B"/>
                </a:solidFill>
              </a:defRPr>
            </a:pPr>
            <a:r>
              <a:rPr sz="1350" b="1">
                <a:solidFill>
                  <a:srgbClr val="F6C55B"/>
                </a:solidFill>
              </a:rPr>
              <a:t>01 | Problem and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790BD6-2968-4FF2-A37A-C9F5B5B15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112966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Diaspora groups already pool money. The hard part is trust, coordination, and transparent governance.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6A96C3-8604-4437-A0B7-5889D800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7353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A7B4C1"/>
                </a:solidFill>
              </a:defRPr>
            </a:pPr>
            <a:r>
              <a:rPr sz="1650">
                <a:solidFill>
                  <a:srgbClr val="A7B4C1"/>
                </a:solidFill>
              </a:rPr>
              <a:t>Mukwano turns a familiar community practice into a traceable digital workflow.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D58B2F-BFFE-40A9-A1EA-20F42E67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95550"/>
            <a:ext cx="7926705" cy="495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ED6AEA-209B-4EC6-BDAA-148434E67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62250"/>
            <a:ext cx="73914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63A5F"/>
                </a:solidFill>
              </a:defRPr>
            </a:pPr>
            <a:r>
              <a:rPr sz="1650" b="1">
                <a:solidFill>
                  <a:srgbClr val="163A5F"/>
                </a:solidFill>
              </a:rPr>
              <a:t>Core challenge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35866-23B2-42C4-B78B-135358D3F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05150"/>
            <a:ext cx="47244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071526"/>
                </a:solidFill>
              </a:defRPr>
            </a:pPr>
            <a:r>
              <a:rPr sz="2325" b="1">
                <a:solidFill>
                  <a:srgbClr val="071526"/>
                </a:solidFill>
              </a:rPr>
              <a:t>Informal community fundraising breaks down when records are fragmented, approvals are ambiguous, and members cannot verify where the money went.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F9E3B8-9209-4373-AF74-55B1016A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724400"/>
            <a:ext cx="4038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63A5F"/>
                </a:solidFill>
              </a:defRPr>
            </a:pPr>
            <a:r>
              <a:rPr sz="1650">
                <a:solidFill>
                  <a:srgbClr val="163A5F"/>
                </a:solidFill>
              </a:rPr>
              <a:t>That makes accountability social instead of system-enforced.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75F81-95FB-4776-852A-B063D6B2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7620000"/>
            <a:ext cx="3887152" cy="1619250"/>
          </a:xfrm>
          <a:prstGeom xmlns:a="http://schemas.openxmlformats.org/drawingml/2006/main" prst="roundRect">
            <a:avLst>
              <a:gd name="adj" fmla="val 12941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39A70D-2BE2-40D5-9C41-DD5FEEA4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84860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7D7D"/>
          </a:solidFill>
          <a:ln xmlns:a="http://schemas.openxmlformats.org/drawingml/2006/main" w="0">
            <a:solidFill>
              <a:srgbClr val="E67D7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2D67DA-2A2B-4403-8511-0E60BEE87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8001000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Diaspora pain point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AF9DA6-C7AE-4F0D-ABFB-2948513C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8324850"/>
            <a:ext cx="31242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E6D3"/>
                </a:solidFill>
              </a:defRPr>
            </a:pPr>
            <a:r>
              <a:rPr sz="1350">
                <a:solidFill>
                  <a:srgbClr val="B8E6D3"/>
                </a:solidFill>
              </a:rPr>
              <a:t>Spreadsheet records, group chats, and verbal approvals make contributions and decisions hard to audit.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95E998-3CE8-4084-B537-B8F4388F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6303" y="7620000"/>
            <a:ext cx="3887152" cy="1619250"/>
          </a:xfrm>
          <a:prstGeom xmlns:a="http://schemas.openxmlformats.org/drawingml/2006/main" prst="roundRect">
            <a:avLst>
              <a:gd name="adj" fmla="val 12941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F83DB-DC7A-4625-96BE-B84F7401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784860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CFB1"/>
          </a:solidFill>
          <a:ln xmlns:a="http://schemas.openxmlformats.org/drawingml/2006/main" w="0">
            <a:solidFill>
              <a:srgbClr val="7CCFB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B4E306-05EC-4B8E-9BA2-41723EB43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8001000"/>
            <a:ext cx="342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Mukwano response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D1BAB7-86C6-4CF1-AD40-78F4579D6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8324850"/>
            <a:ext cx="27432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E6D3"/>
                </a:solidFill>
              </a:defRPr>
            </a:pPr>
            <a:r>
              <a:rPr sz="1350">
                <a:solidFill>
                  <a:srgbClr val="B8E6D3"/>
                </a:solidFill>
              </a:rPr>
              <a:t>A single platform tracks members, contributions, proposals, votes, and funded projects end to end.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F8461C-137F-458E-9A15-F2FA3A61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0155" y="2495550"/>
            <a:ext cx="8761095" cy="2724150"/>
          </a:xfrm>
          <a:prstGeom xmlns:a="http://schemas.openxmlformats.org/drawingml/2006/main" prst="roundRect">
            <a:avLst>
              <a:gd name="adj" fmla="val 8392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C73B9D-F156-4E80-99C6-0008EF6F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743200"/>
            <a:ext cx="8267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What the platform must guarantee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F498D3-EF18-411C-9298-557CCD64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086100"/>
            <a:ext cx="47244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Only approved members can participate in circle actions.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EC024B-F9DF-4CD2-9D09-D5C53612F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562350"/>
            <a:ext cx="4667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Every contribution must be reviewed and reflected in the treasury ledger.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72E480-0EC8-4F80-B6CF-33124EAC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038600"/>
            <a:ext cx="48387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Proposal outcomes depend on quorum and approval rules stored on the server.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3593D7-1796-4BF5-9C04-1B43C66E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514850"/>
            <a:ext cx="4286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Projects only move forward after a passed vote and available treasury balance.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47F990-4F91-4ADF-9248-3007BB21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0155" y="5391150"/>
            <a:ext cx="8761095" cy="3848100"/>
          </a:xfrm>
          <a:prstGeom xmlns:a="http://schemas.openxmlformats.org/drawingml/2006/main" prst="roundRect">
            <a:avLst>
              <a:gd name="adj" fmla="val 5941"/>
            </a:avLst>
          </a:prstGeom>
          <a:solidFill xmlns:a="http://schemas.openxmlformats.org/drawingml/2006/main">
            <a:srgbClr val="0C1F31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F508C3-DD5A-434C-AB6B-3851B6990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600700"/>
            <a:ext cx="83439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6C55B"/>
                </a:solidFill>
              </a:defRPr>
            </a:pPr>
            <a:r>
              <a:rPr sz="1800" b="1">
                <a:solidFill>
                  <a:srgbClr val="F6C55B"/>
                </a:solidFill>
              </a:rPr>
              <a:t>Governance loop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575A0F-4AF2-44F7-8502-8D8AB7E9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9705" y="5981700"/>
            <a:ext cx="1985486" cy="3048000"/>
          </a:xfrm>
          <a:prstGeom xmlns:a="http://schemas.openxmlformats.org/drawingml/2006/main" prst="roundRect">
            <a:avLst>
              <a:gd name="adj" fmla="val 8635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47F961-D67C-40AB-9F8A-8F44C955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153150"/>
            <a:ext cx="1638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6C55B"/>
                </a:solidFill>
              </a:defRPr>
            </a:pPr>
            <a:r>
              <a:rPr sz="2100" b="1">
                <a:solidFill>
                  <a:srgbClr val="F6C55B"/>
                </a:solidFill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5C29B5-6885-46C9-A9C4-F8F148744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496050"/>
            <a:ext cx="971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Contribute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86CDA9-EC53-40E3-8CC4-0BDEEB5F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762750"/>
            <a:ext cx="2171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7B4C1"/>
                </a:solidFill>
              </a:defRPr>
            </a:pPr>
            <a:r>
              <a:rPr sz="1125">
                <a:solidFill>
                  <a:srgbClr val="A7B4C1"/>
                </a:solidFill>
              </a:rPr>
              <a:t>Member submits contribution and optional proof.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49E6E2-E113-4993-927B-A5FB1DEBD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8541" y="5981700"/>
            <a:ext cx="1985486" cy="3048000"/>
          </a:xfrm>
          <a:prstGeom xmlns:a="http://schemas.openxmlformats.org/drawingml/2006/main" prst="roundRect">
            <a:avLst>
              <a:gd name="adj" fmla="val 8635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1CC4EA-5471-4225-835E-019F0EA5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153150"/>
            <a:ext cx="1638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CCFB1"/>
                </a:solidFill>
              </a:defRPr>
            </a:pPr>
            <a:r>
              <a:rPr sz="2100" b="1">
                <a:solidFill>
                  <a:srgbClr val="7CCFB1"/>
                </a:solidFill>
              </a:rPr>
              <a:t>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1EF869A-4CCE-4934-9AB4-48E60DD9A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96050"/>
            <a:ext cx="495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AC6554-7404-4762-B9EE-BCB89D8C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762750"/>
            <a:ext cx="1809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7B4C1"/>
                </a:solidFill>
              </a:defRPr>
            </a:pPr>
            <a:r>
              <a:rPr sz="1125">
                <a:solidFill>
                  <a:srgbClr val="A7B4C1"/>
                </a:solidFill>
              </a:rPr>
              <a:t>Admin approves; ledger and treasury update.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9AF19B-2EC5-4FD2-8E62-F7B7200C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7378" y="5981700"/>
            <a:ext cx="1985486" cy="3048000"/>
          </a:xfrm>
          <a:prstGeom xmlns:a="http://schemas.openxmlformats.org/drawingml/2006/main" prst="roundRect">
            <a:avLst>
              <a:gd name="adj" fmla="val 8635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EEC64B-DA3D-4815-80F9-F1330A8D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153150"/>
            <a:ext cx="1638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6C55B"/>
                </a:solidFill>
              </a:defRPr>
            </a:pPr>
            <a:r>
              <a:rPr sz="2100" b="1">
                <a:solidFill>
                  <a:srgbClr val="F6C55B"/>
                </a:solidFill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A8D9AAF-44EC-43DF-A434-2EA1D63C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496050"/>
            <a:ext cx="4000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Vote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A7DFA4-F8A4-4CBC-956D-E4B9E473F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6762750"/>
            <a:ext cx="179070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7B4C1"/>
                </a:solidFill>
              </a:defRPr>
            </a:pPr>
            <a:r>
              <a:rPr sz="1125">
                <a:solidFill>
                  <a:srgbClr val="A7B4C1"/>
                </a:solidFill>
              </a:rPr>
              <a:t>Members vote on proposals under stored rules.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696683A-F36B-44A9-81E6-010C394C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6214" y="5981700"/>
            <a:ext cx="1985486" cy="3048000"/>
          </a:xfrm>
          <a:prstGeom xmlns:a="http://schemas.openxmlformats.org/drawingml/2006/main" prst="roundRect">
            <a:avLst>
              <a:gd name="adj" fmla="val 8635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946E8BF-F45D-43A2-B556-806AEAC5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6153150"/>
            <a:ext cx="1638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CCFB1"/>
                </a:solidFill>
              </a:defRPr>
            </a:pPr>
            <a:r>
              <a:rPr sz="2100" b="1">
                <a:solidFill>
                  <a:srgbClr val="7CCFB1"/>
                </a:solidFill>
              </a:rPr>
              <a:t>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294F13-F47F-4ED8-BDBB-39D13546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6496050"/>
            <a:ext cx="742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Execute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27F2E9E-45D6-435F-AB51-F81227E6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1950" y="6953250"/>
            <a:ext cx="20193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7B4C1"/>
                </a:solidFill>
              </a:defRPr>
            </a:pPr>
            <a:r>
              <a:rPr sz="1125">
                <a:solidFill>
                  <a:srgbClr val="A7B4C1"/>
                </a:solidFill>
              </a:rPr>
              <a:t>Passed proposals become projects with progress updates.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BA39EB2-0DBE-4A03-83AF-997A5805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486900"/>
            <a:ext cx="144970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Mukwano | Final Project Presentation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6647D5F-46ED-469C-9C5A-00577A11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9486900"/>
            <a:ext cx="2457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Demo mode build | governance-first MVP</a:t>
            </a:r>
          </a:p>
        </p:txBody>
      </p:sp>
    </p:spTree>
    <p:extLst>
      <p:ext uri="{BB962C8B-B14F-4D97-AF65-F5344CB8AC3E}">
        <p14:creationId xmlns:p14="http://schemas.microsoft.com/office/powerpoint/2010/main" val="918179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C840CD-3EF9-4E1B-A01B-9E9269F2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6954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6C55B"/>
                </a:solidFill>
              </a:defRPr>
            </a:pPr>
            <a:r>
              <a:rPr sz="1350" b="1">
                <a:solidFill>
                  <a:srgbClr val="F6C55B"/>
                </a:solidFill>
              </a:rPr>
              <a:t>02 |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675164-E037-4509-B2EC-7A58038E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95250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 full-stack TypeScript app with a thin client and a rule-heavy backend.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0C954A-BE69-4AE1-8D1E-D669C2C7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72199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A7B4C1"/>
                </a:solidFill>
              </a:defRPr>
            </a:pPr>
            <a:r>
              <a:rPr sz="1650">
                <a:solidFill>
                  <a:srgbClr val="A7B4C1"/>
                </a:solidFill>
              </a:rPr>
              <a:t>Most trust guarantees live in the API and database layer, not in browser logic.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4B315F-5A6B-4A41-95F0-649D289B3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8343900" cy="6991350"/>
          </a:xfrm>
          <a:prstGeom xmlns:a="http://schemas.openxmlformats.org/drawingml/2006/main" prst="roundRect">
            <a:avLst>
              <a:gd name="adj" fmla="val 3270"/>
            </a:avLst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02782F-4102-4329-AA57-D117FF58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95550"/>
            <a:ext cx="7886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A5F"/>
                </a:solidFill>
              </a:defRPr>
            </a:pPr>
            <a:r>
              <a:rPr sz="1800" b="1">
                <a:solidFill>
                  <a:srgbClr val="163A5F"/>
                </a:solidFill>
              </a:rPr>
              <a:t>System stack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C131A0-CE58-4D01-81FC-2AE5C383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7886700" cy="1968500"/>
          </a:xfrm>
          <a:prstGeom xmlns:a="http://schemas.openxmlformats.org/drawingml/2006/main" prst="roundRect">
            <a:avLst>
              <a:gd name="adj" fmla="val 10645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2C75E0-E7B1-48E4-B450-56E397B13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8610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A500"/>
          </a:solidFill>
          <a:ln xmlns:a="http://schemas.openxmlformats.org/drawingml/2006/main" w="0">
            <a:solidFill>
              <a:srgbClr val="F0A5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B15567-E0E6-4248-9CD5-9B536EDF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38500"/>
            <a:ext cx="742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9AF23-1287-4BCA-B525-ECC0D1AE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562350"/>
            <a:ext cx="28384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E6D3"/>
                </a:solidFill>
              </a:defRPr>
            </a:pPr>
            <a:r>
              <a:rPr sz="1350">
                <a:solidFill>
                  <a:srgbClr val="B8E6D3"/>
                </a:solidFill>
              </a:rPr>
              <a:t>React + TypeScript + Vite + TanStack Query. Handles routing, forms, and views for circles, proposals, and projects.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5D2B64-FAEF-480C-9DC3-7C2E6D920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59350"/>
            <a:ext cx="7886700" cy="1968500"/>
          </a:xfrm>
          <a:prstGeom xmlns:a="http://schemas.openxmlformats.org/drawingml/2006/main" prst="roundRect">
            <a:avLst>
              <a:gd name="adj" fmla="val 10645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10BDF-185C-4DF5-839C-4DAAB7BE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8160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CFB1"/>
          </a:solidFill>
          <a:ln xmlns:a="http://schemas.openxmlformats.org/drawingml/2006/main" w="0">
            <a:solidFill>
              <a:srgbClr val="7CCFB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9E2B89-499B-4C77-8B74-64B94C0C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34000"/>
            <a:ext cx="742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E4F4EB-A6F3-47B6-8C66-F0A94D67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57850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E6D3"/>
                </a:solidFill>
              </a:defRPr>
            </a:pPr>
            <a:r>
              <a:rPr sz="1350">
                <a:solidFill>
                  <a:srgbClr val="B8E6D3"/>
                </a:solidFill>
              </a:rPr>
              <a:t>Fastify + TypeScript services. Enforces auth, roles, ledger updates, proposal rules, and admin operations.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334A98-C44E-470E-9C85-85F1CB96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061200"/>
            <a:ext cx="7886700" cy="1968500"/>
          </a:xfrm>
          <a:prstGeom xmlns:a="http://schemas.openxmlformats.org/drawingml/2006/main" prst="roundRect">
            <a:avLst>
              <a:gd name="adj" fmla="val 10645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FC69AB-D0EE-47B1-AC2D-2F77A5A6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72961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55B"/>
          </a:solidFill>
          <a:ln xmlns:a="http://schemas.openxmlformats.org/drawingml/2006/main" w="0">
            <a:solidFill>
              <a:srgbClr val="F6C5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A4D808-1A09-4AF8-896B-CBF45E4F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7429500"/>
            <a:ext cx="7429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Data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20F4F7-B35D-46C5-8BE7-9F6CD3C9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7753350"/>
            <a:ext cx="28765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E6D3"/>
                </a:solidFill>
              </a:defRPr>
            </a:pPr>
            <a:r>
              <a:rPr sz="1350">
                <a:solidFill>
                  <a:srgbClr val="B8E6D3"/>
                </a:solidFill>
              </a:rPr>
              <a:t>Prisma + PostgreSQL. Stores users, memberships, contributions, votes, proposals, projects, notifications, and audit logs.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A7F5F7-14B8-444A-9465-C237568A6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66950"/>
            <a:ext cx="8343900" cy="2990850"/>
          </a:xfrm>
          <a:prstGeom xmlns:a="http://schemas.openxmlformats.org/drawingml/2006/main" prst="roundRect">
            <a:avLst>
              <a:gd name="adj" fmla="val 7643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97A315-CF77-4F08-82D1-DA9BACD5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514600"/>
            <a:ext cx="7848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Auth + trust model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7528EB-0DF8-4044-A66D-AD06B6375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857500"/>
            <a:ext cx="47053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JWT access tokens (15 min) + rotating refresh tokens (30 days).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1D5408-3B6E-438E-BAB5-CCC26F88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33750"/>
            <a:ext cx="46101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Email verification gate before onboarding and protected app usage.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1C4BCA-0C6D-4FF3-BC54-E40507C4A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10000"/>
            <a:ext cx="49149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Optional TOTP step-up paths for sensitive account actions.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4335BB-65F0-45C3-BC55-0486A0E9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114800"/>
            <a:ext cx="49149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Audit logs and notifications track major governance events.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EAFEE3-4240-473E-8FB8-829ACFB37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429250"/>
            <a:ext cx="8343900" cy="38290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0C1F31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F88A9D-7F1F-4772-B711-69D94002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676900"/>
            <a:ext cx="7848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6C55B"/>
                </a:solidFill>
              </a:defRPr>
            </a:pPr>
            <a:r>
              <a:rPr sz="1800" b="1">
                <a:solidFill>
                  <a:srgbClr val="F6C55B"/>
                </a:solidFill>
              </a:rPr>
              <a:t>Why the backend matters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8E529F-2C05-478E-B40C-1EDBF8868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038850"/>
            <a:ext cx="455295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The UI can request actions, but it does not decide whether they are valid.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65E7561-B240-40B0-BBC8-39D355D7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915150"/>
            <a:ext cx="48387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7B4C1"/>
                </a:solidFill>
              </a:defRPr>
            </a:pPr>
            <a:r>
              <a:rPr sz="1350">
                <a:solidFill>
                  <a:srgbClr val="A7B4C1"/>
                </a:solidFill>
              </a:rPr>
              <a:t>• Circle membership and role checks happen in services before every protected action.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F4407D-66F9-4761-B2F8-ADEC71F1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7391400"/>
            <a:ext cx="48006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7B4C1"/>
                </a:solidFill>
              </a:defRPr>
            </a:pPr>
            <a:r>
              <a:rPr sz="1350">
                <a:solidFill>
                  <a:srgbClr val="A7B4C1"/>
                </a:solidFill>
              </a:rPr>
              <a:t>• Contribution verification writes to an append-style ledger and updates treasury balance.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036866-2225-4BFD-8C08-F1EE57D4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7867650"/>
            <a:ext cx="48958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7B4C1"/>
                </a:solidFill>
              </a:defRPr>
            </a:pPr>
            <a:r>
              <a:rPr sz="1350">
                <a:solidFill>
                  <a:srgbClr val="A7B4C1"/>
                </a:solidFill>
              </a:rPr>
              <a:t>• Proposal closing calculates quorum and approval percentages on the server.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D230EAE-6E37-46AC-8D0F-472DF304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8343900"/>
            <a:ext cx="4933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7B4C1"/>
                </a:solidFill>
              </a:defRPr>
            </a:pPr>
            <a:r>
              <a:rPr sz="1350">
                <a:solidFill>
                  <a:srgbClr val="A7B4C1"/>
                </a:solidFill>
              </a:rPr>
              <a:t>• Project funding only starts if the treasury can cover the budget.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009D980-D4FE-4421-A2BB-E576DE14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486900"/>
            <a:ext cx="144970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Mukwano | Final Project Presentation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A6543C-6136-403F-9911-C49AE14F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9486900"/>
            <a:ext cx="2457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Demo mode build | governance-first MVP</a:t>
            </a:r>
          </a:p>
        </p:txBody>
      </p:sp>
    </p:spTree>
    <p:extLst>
      <p:ext uri="{BB962C8B-B14F-4D97-AF65-F5344CB8AC3E}">
        <p14:creationId xmlns:p14="http://schemas.microsoft.com/office/powerpoint/2010/main" val="37802798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F07C37-67AA-4383-82F2-7D41D087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6954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6C55B"/>
                </a:solidFill>
              </a:defRPr>
            </a:pPr>
            <a:r>
              <a:rPr sz="1350" b="1">
                <a:solidFill>
                  <a:srgbClr val="F6C55B"/>
                </a:solidFill>
              </a:rPr>
              <a:t>03 | Core User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EB023-E21F-4BF0-856A-B6AC951F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103251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From signup to funded project, the app follows a clear governance pipeline.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44593-C4C7-408A-93B2-E0C6BC5B6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52578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A7B4C1"/>
                </a:solidFill>
              </a:defRPr>
            </a:pPr>
            <a:r>
              <a:rPr sz="1650">
                <a:solidFill>
                  <a:srgbClr val="A7B4C1"/>
                </a:solidFill>
              </a:rPr>
              <a:t>This is the same path we will show during the live demo.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0260C-6545-49FB-BFC6-92239148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6954500" cy="2762250"/>
          </a:xfrm>
          <a:prstGeom xmlns:a="http://schemas.openxmlformats.org/drawingml/2006/main" prst="roundRect">
            <a:avLst>
              <a:gd name="adj" fmla="val 8276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EE47FA-75EC-447A-A8DF-44E81B80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05100"/>
            <a:ext cx="2670175" cy="2305050"/>
          </a:xfrm>
          <a:prstGeom xmlns:a="http://schemas.openxmlformats.org/drawingml/2006/main" prst="roundRect">
            <a:avLst>
              <a:gd name="adj" fmla="val 7438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765B3C-8BB5-485F-9F7A-9A009849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324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6C55B"/>
                </a:solidFill>
              </a:defRPr>
            </a:pPr>
            <a:r>
              <a:rPr sz="2100" b="1">
                <a:solidFill>
                  <a:srgbClr val="F6C55B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E900C5-63E7-49F8-BB77-6F7CFCC56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19450"/>
            <a:ext cx="6286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Signup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600435-C27A-43F2-B4BA-F3A297156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86150"/>
            <a:ext cx="1752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7B4C1"/>
                </a:solidFill>
              </a:defRPr>
            </a:pPr>
            <a:r>
              <a:rPr sz="1125">
                <a:solidFill>
                  <a:srgbClr val="A7B4C1"/>
                </a:solidFill>
              </a:rPr>
              <a:t>Create account and receive access + refresh token pair.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FE64FA-1630-4C26-B32D-AD092470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0775" y="2705100"/>
            <a:ext cx="2670175" cy="2305050"/>
          </a:xfrm>
          <a:prstGeom xmlns:a="http://schemas.openxmlformats.org/drawingml/2006/main" prst="roundRect">
            <a:avLst>
              <a:gd name="adj" fmla="val 7438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FBD367-0128-4DF0-BD96-3A2A7B68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876550"/>
            <a:ext cx="2324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CCFB1"/>
                </a:solidFill>
              </a:defRPr>
            </a:pPr>
            <a:r>
              <a:rPr sz="2100" b="1">
                <a:solidFill>
                  <a:srgbClr val="7CCFB1"/>
                </a:solidFill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9E3E79-9F43-4E1A-8A5B-9E493200E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219450"/>
            <a:ext cx="495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3F1666-4F9F-42E5-BF94-63340C2A1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48615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7B4C1"/>
                </a:solidFill>
              </a:defRPr>
            </a:pPr>
            <a:r>
              <a:rPr sz="1125">
                <a:solidFill>
                  <a:srgbClr val="A7B4C1"/>
                </a:solidFill>
              </a:rPr>
              <a:t>Confirm email before onboarding and protected flows.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B3F695-D985-495A-B714-196DC4CE4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2705100"/>
            <a:ext cx="2670175" cy="2305050"/>
          </a:xfrm>
          <a:prstGeom xmlns:a="http://schemas.openxmlformats.org/drawingml/2006/main" prst="roundRect">
            <a:avLst>
              <a:gd name="adj" fmla="val 7438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A88C85-EBE1-437C-B0AC-3C97DCDE5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76550"/>
            <a:ext cx="2324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6C55B"/>
                </a:solidFill>
              </a:defRPr>
            </a:pPr>
            <a:r>
              <a:rPr sz="2100" b="1">
                <a:solidFill>
                  <a:srgbClr val="F6C55B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3D86C7-D6EB-4BB1-9A51-8E2E83C6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19450"/>
            <a:ext cx="7810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Onboard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17EE3C-0CA7-44AB-8690-4C612233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76650"/>
            <a:ext cx="18859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7B4C1"/>
                </a:solidFill>
              </a:defRPr>
            </a:pPr>
            <a:r>
              <a:rPr sz="1125">
                <a:solidFill>
                  <a:srgbClr val="A7B4C1"/>
                </a:solidFill>
              </a:rPr>
              <a:t>Choose sector + residence to personalize the app.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32097F-3801-4854-BAA9-1AD9800F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705100"/>
            <a:ext cx="2670175" cy="2305050"/>
          </a:xfrm>
          <a:prstGeom xmlns:a="http://schemas.openxmlformats.org/drawingml/2006/main" prst="roundRect">
            <a:avLst>
              <a:gd name="adj" fmla="val 7438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543A75-77B2-4040-9711-E2101D5D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876550"/>
            <a:ext cx="2324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CCFB1"/>
                </a:solidFill>
              </a:defRPr>
            </a:pPr>
            <a:r>
              <a:rPr sz="2100" b="1">
                <a:solidFill>
                  <a:srgbClr val="7CCFB1"/>
                </a:solidFill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FE6F2E-5266-472D-A9A3-1BC37D40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19450"/>
            <a:ext cx="12954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Join or Create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AF6A8C-DB2F-4C50-9E38-98BAFF1AE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486150"/>
            <a:ext cx="21526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7B4C1"/>
                </a:solidFill>
              </a:defRPr>
            </a:pPr>
            <a:r>
              <a:rPr sz="1125">
                <a:solidFill>
                  <a:srgbClr val="A7B4C1"/>
                </a:solidFill>
              </a:rPr>
              <a:t>Enter a circle via invite or create a new one.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F572E3-D806-4EC0-99F1-486A6BFD7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7050" y="2705100"/>
            <a:ext cx="2670175" cy="2305050"/>
          </a:xfrm>
          <a:prstGeom xmlns:a="http://schemas.openxmlformats.org/drawingml/2006/main" prst="roundRect">
            <a:avLst>
              <a:gd name="adj" fmla="val 7438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ABACD2-563B-44BA-8243-6270C2C6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2876550"/>
            <a:ext cx="2324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6C55B"/>
                </a:solidFill>
              </a:defRPr>
            </a:pPr>
            <a:r>
              <a:rPr sz="2100" b="1">
                <a:solidFill>
                  <a:srgbClr val="F6C55B"/>
                </a:solidFill>
              </a:rPr>
              <a:t>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9433EB-9662-4BF2-A23E-3C88EFC3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3219450"/>
            <a:ext cx="1581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Contribute + Vote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52F3EF-1BE5-4703-9F8C-8D7B5703E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3486150"/>
            <a:ext cx="20574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7B4C1"/>
                </a:solidFill>
              </a:defRPr>
            </a:pPr>
            <a:r>
              <a:rPr sz="1125">
                <a:solidFill>
                  <a:srgbClr val="A7B4C1"/>
                </a:solidFill>
              </a:rPr>
              <a:t>Submit funds, review proposals, and cast votes.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84A395-42F3-40C7-A228-578D8C258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2475" y="2705100"/>
            <a:ext cx="2670175" cy="2305050"/>
          </a:xfrm>
          <a:prstGeom xmlns:a="http://schemas.openxmlformats.org/drawingml/2006/main" prst="roundRect">
            <a:avLst>
              <a:gd name="adj" fmla="val 7438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1AD01D-B0EF-4E27-BDDE-181B2A25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97100" y="2876550"/>
            <a:ext cx="2324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CCFB1"/>
                </a:solidFill>
              </a:defRPr>
            </a:pPr>
            <a:r>
              <a:rPr sz="2100" b="1">
                <a:solidFill>
                  <a:srgbClr val="7CCFB1"/>
                </a:solidFill>
              </a:rPr>
              <a:t>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25DFA3-E43D-4B42-B4CB-774E9CC9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97100" y="3219450"/>
            <a:ext cx="14859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Project Tracking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63AC7E-FFDA-4D1D-8069-ACF8A7B9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97100" y="3676650"/>
            <a:ext cx="20764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7B4C1"/>
                </a:solidFill>
              </a:defRPr>
            </a:pPr>
            <a:r>
              <a:rPr sz="1125">
                <a:solidFill>
                  <a:srgbClr val="A7B4C1"/>
                </a:solidFill>
              </a:rPr>
              <a:t>Watch approved work move into execution and updates.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92F777-3528-4B97-B02F-581D49F7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67350"/>
            <a:ext cx="8372475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66DCE6-BFA8-43B8-B807-39E153AE2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5950"/>
            <a:ext cx="7924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A5F"/>
                </a:solidFill>
              </a:defRPr>
            </a:pPr>
            <a:r>
              <a:rPr sz="1800" b="1">
                <a:solidFill>
                  <a:srgbClr val="163A5F"/>
                </a:solidFill>
              </a:rPr>
              <a:t>User-facing moments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F38C9B0-4397-4946-A874-E4559782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038850"/>
            <a:ext cx="4953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3A5F"/>
                </a:solidFill>
              </a:defRPr>
            </a:pPr>
            <a:r>
              <a:rPr sz="1350">
                <a:solidFill>
                  <a:srgbClr val="163A5F"/>
                </a:solidFill>
              </a:rPr>
              <a:t>• Dashboard summarizes circles, pending contributions, unvoted proposals, and recent activity.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648F52-2197-4456-879E-342A5788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496050"/>
            <a:ext cx="457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3A5F"/>
                </a:solidFill>
              </a:defRPr>
            </a:pPr>
            <a:r>
              <a:rPr sz="1350">
                <a:solidFill>
                  <a:srgbClr val="163A5F"/>
                </a:solidFill>
              </a:rPr>
              <a:t>• Explore page exposes public circles and invite-code entry.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3B2251-48B1-440A-BF90-B0366012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953250"/>
            <a:ext cx="47625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3A5F"/>
                </a:solidFill>
              </a:defRPr>
            </a:pPr>
            <a:r>
              <a:rPr sz="1350">
                <a:solidFill>
                  <a:srgbClr val="163A5F"/>
                </a:solidFill>
              </a:rPr>
              <a:t>• Circle detail page becomes the operational hub for members and admins.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2477FA-273E-4BDC-BF9A-8105E25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410450"/>
            <a:ext cx="46863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3A5F"/>
                </a:solidFill>
              </a:defRPr>
            </a:pPr>
            <a:r>
              <a:rPr sz="1350">
                <a:solidFill>
                  <a:srgbClr val="163A5F"/>
                </a:solidFill>
              </a:rPr>
              <a:t>• Portfolio and admin pages extend visibility beyond the main circle workflow.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BBADCF-3576-4A51-B631-11050EDE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5467350"/>
            <a:ext cx="8372475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C1F31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5E8BAFF-2B23-4B5F-A5E9-A3B8389F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5695950"/>
            <a:ext cx="79248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6C55B"/>
                </a:solidFill>
              </a:defRPr>
            </a:pPr>
            <a:r>
              <a:rPr sz="1800" b="1">
                <a:solidFill>
                  <a:srgbClr val="F6C55B"/>
                </a:solidFill>
              </a:rPr>
              <a:t>Server-enforced checks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08A449-E8D5-4419-B840-7A94EA79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6038850"/>
            <a:ext cx="44386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7B4C1"/>
                </a:solidFill>
              </a:defRPr>
            </a:pPr>
            <a:r>
              <a:rPr sz="1350">
                <a:solidFill>
                  <a:srgbClr val="A7B4C1"/>
                </a:solidFill>
              </a:rPr>
              <a:t>• Only verified accounts can move past onboarding gates.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507A7E3-7BE2-4A96-AB3E-BBAC059E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6324600"/>
            <a:ext cx="47434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7B4C1"/>
                </a:solidFill>
              </a:defRPr>
            </a:pPr>
            <a:r>
              <a:rPr sz="1350">
                <a:solidFill>
                  <a:srgbClr val="A7B4C1"/>
                </a:solidFill>
              </a:rPr>
              <a:t>• Only members can access circle resources; only admins can verify contributions or change roles.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39AEAE-9516-4AF7-BD72-62C9D75B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6781800"/>
            <a:ext cx="4629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7B4C1"/>
                </a:solidFill>
              </a:defRPr>
            </a:pPr>
            <a:r>
              <a:rPr sz="1350">
                <a:solidFill>
                  <a:srgbClr val="A7B4C1"/>
                </a:solidFill>
              </a:rPr>
              <a:t>• Voting, proposal closing, and project funding all depend on stored governance rules and treasury state.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533ADCC-397E-4F2E-A4E7-9C4E0C6E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7239000"/>
            <a:ext cx="4743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7B4C1"/>
                </a:solidFill>
              </a:defRPr>
            </a:pPr>
            <a:r>
              <a:rPr sz="1350">
                <a:solidFill>
                  <a:srgbClr val="A7B4C1"/>
                </a:solidFill>
              </a:rPr>
              <a:t>• Notifications and audit logs record each important transition.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6DDCFCB-45EA-4F29-9FFF-AD053A031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486900"/>
            <a:ext cx="144970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Mukwano | Final Project Presentation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743B2BC-59F4-44FD-90FE-395677DF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9486900"/>
            <a:ext cx="2457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Demo mode build | governance-first MVP</a:t>
            </a:r>
          </a:p>
        </p:txBody>
      </p:sp>
    </p:spTree>
    <p:extLst>
      <p:ext uri="{BB962C8B-B14F-4D97-AF65-F5344CB8AC3E}">
        <p14:creationId xmlns:p14="http://schemas.microsoft.com/office/powerpoint/2010/main" val="208289430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6AD220F-09EC-495E-84F7-13D668AF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"/>
            <a:ext cx="169926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6C55B"/>
                </a:solidFill>
              </a:defRPr>
            </a:pPr>
            <a:r>
              <a:rPr sz="1350" b="1">
                <a:solidFill>
                  <a:srgbClr val="F6C55B"/>
                </a:solidFill>
              </a:rPr>
              <a:t>04 | Main Features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0F309-8571-43B8-A698-F4A64BBC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14400"/>
            <a:ext cx="111442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The MVP already covers the full governance cycle, not just isolated screens.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8EC666-74D5-4A8D-82BB-8F6CBB85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010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A7B4C1"/>
                </a:solidFill>
              </a:defRPr>
            </a:pPr>
            <a:r>
              <a:rPr sz="1650">
                <a:solidFill>
                  <a:srgbClr val="A7B4C1"/>
                </a:solidFill>
              </a:rPr>
              <a:t>Each feature supports trust, traceability, or execution.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887EFD-21D9-4439-9F96-814AE44F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5549900" cy="3333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D2237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59793D-CE77-4EE7-9645-12222902C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38400"/>
            <a:ext cx="5124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6C55B"/>
                </a:solidFill>
              </a:defRPr>
            </a:pPr>
            <a:r>
              <a:rPr sz="1350" b="1">
                <a:solidFill>
                  <a:srgbClr val="F6C55B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5FCF6B-A82A-4706-BEA8-ADFA7DCA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05100"/>
            <a:ext cx="19431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Circle management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BD4ACE-EB6F-4E63-B0DC-B09051BA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19450"/>
            <a:ext cx="10287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4C1"/>
                </a:solidFill>
              </a:defRPr>
            </a:pPr>
            <a:r>
              <a:rPr sz="1200">
                <a:solidFill>
                  <a:srgbClr val="A7B4C1"/>
                </a:solidFill>
              </a:rPr>
              <a:t>• Create circles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E77179-0E3C-4DEC-84F7-E0C1458B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19500"/>
            <a:ext cx="18288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4C1"/>
                </a:solidFill>
              </a:defRPr>
            </a:pPr>
            <a:r>
              <a:rPr sz="1200">
                <a:solidFill>
                  <a:srgbClr val="A7B4C1"/>
                </a:solidFill>
              </a:rPr>
              <a:t>• Manage members + roles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C9340A-EA5A-4F70-8637-88D68648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050" y="2228850"/>
            <a:ext cx="5549900" cy="3333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D2237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71F655-15A1-4168-91CD-22ABA83E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38400"/>
            <a:ext cx="5124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CFB1"/>
                </a:solidFill>
              </a:defRPr>
            </a:pPr>
            <a:r>
              <a:rPr sz="1350" b="1">
                <a:solidFill>
                  <a:srgbClr val="7CCFB1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0DA507-DE09-4230-A1A1-36011EDA6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05100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Invite + explore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FDFFA9-AA08-4C83-8FBA-B317B04E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9900"/>
            <a:ext cx="15621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4C1"/>
                </a:solidFill>
              </a:defRPr>
            </a:pPr>
            <a:r>
              <a:rPr sz="1200">
                <a:solidFill>
                  <a:srgbClr val="A7B4C1"/>
                </a:solidFill>
              </a:rPr>
              <a:t>• Public circle directory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2BFA2F-3495-4663-BCBE-F8D078A1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57550"/>
            <a:ext cx="1371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4C1"/>
                </a:solidFill>
              </a:defRPr>
            </a:pPr>
            <a:r>
              <a:rPr sz="1200">
                <a:solidFill>
                  <a:srgbClr val="A7B4C1"/>
                </a:solidFill>
              </a:rPr>
              <a:t>• Join by invite code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2ABD84-1EDD-4DAF-8E2C-D68EA8E0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0400" y="2228850"/>
            <a:ext cx="5549900" cy="3333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D2237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314C0E-256C-48A9-BF04-9A845B65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2438400"/>
            <a:ext cx="5124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6C55B"/>
                </a:solidFill>
              </a:defRPr>
            </a:pPr>
            <a:r>
              <a:rPr sz="1350" b="1">
                <a:solidFill>
                  <a:srgbClr val="F6C55B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A6BF5A-ACB2-4A56-AFD8-67EDD72E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2705100"/>
            <a:ext cx="22288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Contribution workflow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04FAFF-2484-46B6-A3ED-2B6F38124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3219450"/>
            <a:ext cx="12954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4C1"/>
                </a:solidFill>
              </a:defRPr>
            </a:pPr>
            <a:r>
              <a:rPr sz="1200">
                <a:solidFill>
                  <a:srgbClr val="A7B4C1"/>
                </a:solidFill>
              </a:rPr>
              <a:t>• Submit payments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7EC27D-D38C-47C2-A065-5D5C8B5D5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3467100"/>
            <a:ext cx="16383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4C1"/>
                </a:solidFill>
              </a:defRPr>
            </a:pPr>
            <a:r>
              <a:rPr sz="1200">
                <a:solidFill>
                  <a:srgbClr val="A7B4C1"/>
                </a:solidFill>
              </a:rPr>
              <a:t>• Attach proof and 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B7C6B5-FC90-4081-844B-18A6ADEB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5549900" cy="3333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D2237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175B3A-9626-448F-9EEE-93C25931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981700"/>
            <a:ext cx="5124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CFB1"/>
                </a:solidFill>
              </a:defRPr>
            </a:pPr>
            <a:r>
              <a:rPr sz="1350" b="1">
                <a:solidFill>
                  <a:srgbClr val="7CCFB1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A6FFEB-6AD9-44DD-AF51-E73B1634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248400"/>
            <a:ext cx="2133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Proposal governance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BCA504-5923-4ACB-B54C-2FEC0BCB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762750"/>
            <a:ext cx="12573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4C1"/>
                </a:solidFill>
              </a:defRPr>
            </a:pPr>
            <a:r>
              <a:rPr sz="1200">
                <a:solidFill>
                  <a:srgbClr val="A7B4C1"/>
                </a:solidFill>
              </a:rPr>
              <a:t>• Create proposals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331BF4-8271-40C0-91ED-C167C600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162800"/>
            <a:ext cx="16764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4C1"/>
                </a:solidFill>
              </a:defRPr>
            </a:pPr>
            <a:r>
              <a:rPr sz="1200">
                <a:solidFill>
                  <a:srgbClr val="A7B4C1"/>
                </a:solidFill>
              </a:rPr>
              <a:t>• Vote and close by rules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EE2F7D6-6DB4-4251-91A6-105678D6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9050" y="5772150"/>
            <a:ext cx="5549900" cy="3333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D2237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668B95-53F3-4CAD-87E9-57FA256C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981700"/>
            <a:ext cx="5124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6C55B"/>
                </a:solidFill>
              </a:defRPr>
            </a:pPr>
            <a:r>
              <a:rPr sz="1350" b="1">
                <a:solidFill>
                  <a:srgbClr val="F6C55B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D22D2F-2701-48F8-9F00-BAAAC5BB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248400"/>
            <a:ext cx="17526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Project execution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F5241C-E386-4DF6-B74E-4FDA3C33E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553200"/>
            <a:ext cx="16573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4C1"/>
                </a:solidFill>
              </a:defRPr>
            </a:pPr>
            <a:r>
              <a:rPr sz="1200">
                <a:solidFill>
                  <a:srgbClr val="A7B4C1"/>
                </a:solidFill>
              </a:rPr>
              <a:t>• Create funded projects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017F2A-4759-4FC2-9391-057D79D5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6953250"/>
            <a:ext cx="1714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4C1"/>
                </a:solidFill>
              </a:defRPr>
            </a:pPr>
            <a:r>
              <a:rPr sz="1200">
                <a:solidFill>
                  <a:srgbClr val="A7B4C1"/>
                </a:solidFill>
              </a:rPr>
              <a:t>• Post execution updates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8AF9E3-A035-4169-AC5B-C7D77589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0400" y="5772150"/>
            <a:ext cx="5549900" cy="33337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0D2237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41147B-C961-44F9-A2D7-B0C3F7499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5981700"/>
            <a:ext cx="512445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CCFB1"/>
                </a:solidFill>
              </a:defRPr>
            </a:pPr>
            <a:r>
              <a:rPr sz="1350" b="1">
                <a:solidFill>
                  <a:srgbClr val="7CCFB1"/>
                </a:solidFill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31B1E9-187B-4426-B0DD-1398B07A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6248400"/>
            <a:ext cx="17907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Admin + reporting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337837-0F21-4991-BCDF-F512DEF3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6762750"/>
            <a:ext cx="14478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4C1"/>
                </a:solidFill>
              </a:defRPr>
            </a:pPr>
            <a:r>
              <a:rPr sz="1200">
                <a:solidFill>
                  <a:srgbClr val="A7B4C1"/>
                </a:solidFill>
              </a:rPr>
              <a:t>• Portfolio summaries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5F139B5-6308-4358-A582-83AF10D0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06300" y="7162800"/>
            <a:ext cx="2133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4C1"/>
                </a:solidFill>
              </a:defRPr>
            </a:pPr>
            <a:r>
              <a:rPr sz="1200">
                <a:solidFill>
                  <a:srgbClr val="A7B4C1"/>
                </a:solidFill>
              </a:rPr>
              <a:t>• Admin oversight and analytics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48CE49-F3C1-4EFE-922F-131A6578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9315450"/>
            <a:ext cx="145351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Mukwano | Final Project Presentation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A6645A2-2CB3-4036-954C-775D84BC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82850" y="9315450"/>
            <a:ext cx="2457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Demo mode build | governance-first MVP</a:t>
            </a:r>
          </a:p>
        </p:txBody>
      </p:sp>
    </p:spTree>
    <p:extLst>
      <p:ext uri="{BB962C8B-B14F-4D97-AF65-F5344CB8AC3E}">
        <p14:creationId xmlns:p14="http://schemas.microsoft.com/office/powerpoint/2010/main" val="49871998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FCF516-E78F-441D-8E4F-A426FDEFF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6954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6C55B"/>
                </a:solidFill>
              </a:defRPr>
            </a:pPr>
            <a:r>
              <a:rPr sz="1350" b="1">
                <a:solidFill>
                  <a:srgbClr val="F6C55B"/>
                </a:solidFill>
              </a:rPr>
              <a:t>05 | Updates After the Initial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E6FF51-E4A3-4159-B478-D316E49E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1074420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The current build is significantly more complete than the first submission.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869B03-4D85-4457-8483-03C0A7161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69913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A7B4C1"/>
                </a:solidFill>
              </a:defRPr>
            </a:pPr>
            <a:r>
              <a:rPr sz="1650">
                <a:solidFill>
                  <a:srgbClr val="A7B4C1"/>
                </a:solidFill>
              </a:rPr>
              <a:t>We expanded both user-facing workflows and backend governance depth.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7D3F38-56E0-4B5A-B4B6-BF0993E8E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6523101" cy="6991350"/>
          </a:xfrm>
          <a:prstGeom xmlns:a="http://schemas.openxmlformats.org/drawingml/2006/main" prst="roundRect">
            <a:avLst>
              <a:gd name="adj" fmla="val 3504"/>
            </a:avLst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C2036-6C69-4F40-B7D0-0D0C5C1D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95550"/>
            <a:ext cx="60579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A5F"/>
                </a:solidFill>
              </a:defRPr>
            </a:pPr>
            <a:r>
              <a:rPr sz="1800" b="1">
                <a:solidFill>
                  <a:srgbClr val="163A5F"/>
                </a:solidFill>
              </a:rPr>
              <a:t>Initial project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360EA-E9E1-4D00-983A-5962B293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38450"/>
            <a:ext cx="2800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63A5F"/>
                </a:solidFill>
              </a:defRPr>
            </a:pPr>
            <a:r>
              <a:rPr sz="1425">
                <a:solidFill>
                  <a:srgbClr val="163A5F"/>
                </a:solidFill>
              </a:rPr>
              <a:t>• Core circle and contribution idea.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463ADB-0052-4910-83DA-A30A5014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43250"/>
            <a:ext cx="33909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63A5F"/>
                </a:solidFill>
              </a:defRPr>
            </a:pPr>
            <a:r>
              <a:rPr sz="1425">
                <a:solidFill>
                  <a:srgbClr val="163A5F"/>
                </a:solidFill>
              </a:rPr>
              <a:t>• Foundational authentication and routing.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F6DBA3-5429-4B79-ABE9-211A4A61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19500"/>
            <a:ext cx="34861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63A5F"/>
                </a:solidFill>
              </a:defRPr>
            </a:pPr>
            <a:r>
              <a:rPr sz="1425">
                <a:solidFill>
                  <a:srgbClr val="163A5F"/>
                </a:solidFill>
              </a:rPr>
              <a:t>• Basic proposal/project workflow concept.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9185F1-0A73-4738-BAE2-B1583926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95750"/>
            <a:ext cx="36385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3A5F"/>
                </a:solidFill>
              </a:defRPr>
            </a:pPr>
            <a:r>
              <a:rPr sz="1500" b="1">
                <a:solidFill>
                  <a:srgbClr val="163A5F"/>
                </a:solidFill>
              </a:rPr>
              <a:t>Current project extends that into a fuller product experience.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B67673-BA0C-4F75-947B-7E8DBA60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451" y="2266950"/>
            <a:ext cx="10202799" cy="1633538"/>
          </a:xfrm>
          <a:prstGeom xmlns:a="http://schemas.openxmlformats.org/drawingml/2006/main" prst="roundRect">
            <a:avLst>
              <a:gd name="adj" fmla="val 12828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BADB5-9F6D-4D7F-938D-302E422DB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955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55B"/>
          </a:solidFill>
          <a:ln xmlns:a="http://schemas.openxmlformats.org/drawingml/2006/main" w="0">
            <a:solidFill>
              <a:srgbClr val="F6C5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BF8797-26A8-43A2-8AA9-19878B97C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647950"/>
            <a:ext cx="9753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Stronger auth + onboarding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489F72-4CF7-4D7C-94AF-373CFAA6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971800"/>
            <a:ext cx="2952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E6D3"/>
                </a:solidFill>
              </a:defRPr>
            </a:pPr>
            <a:r>
              <a:rPr sz="1350">
                <a:solidFill>
                  <a:srgbClr val="B8E6D3"/>
                </a:solidFill>
              </a:rPr>
              <a:t>Email verification, password reset, refresh-token rotation, and onboarding steps now shape the first-run experience.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657A12-E71D-4818-8F54-2C29552B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451" y="4052888"/>
            <a:ext cx="10202799" cy="1633538"/>
          </a:xfrm>
          <a:prstGeom xmlns:a="http://schemas.openxmlformats.org/drawingml/2006/main" prst="roundRect">
            <a:avLst>
              <a:gd name="adj" fmla="val 12828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328AC-0AB7-4EB5-A744-B1E9E1AE4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2862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CFB1"/>
          </a:solidFill>
          <a:ln xmlns:a="http://schemas.openxmlformats.org/drawingml/2006/main" w="0">
            <a:solidFill>
              <a:srgbClr val="7CCFB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0E84B1-9B0A-44AC-AAEC-C563F53AA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19600"/>
            <a:ext cx="9753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Broader discovery + access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95509F-9A7F-4ADE-BA11-0DF96771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743450"/>
            <a:ext cx="30670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E6D3"/>
                </a:solidFill>
              </a:defRPr>
            </a:pPr>
            <a:r>
              <a:rPr sz="1350">
                <a:solidFill>
                  <a:srgbClr val="B8E6D3"/>
                </a:solidFill>
              </a:rPr>
              <a:t>Public explore listings, circle privacy settings, invite-code join flow, and membership-request management were added.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3CC5A5-1449-4766-BE67-097A7403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451" y="5838825"/>
            <a:ext cx="10202799" cy="1633538"/>
          </a:xfrm>
          <a:prstGeom xmlns:a="http://schemas.openxmlformats.org/drawingml/2006/main" prst="roundRect">
            <a:avLst>
              <a:gd name="adj" fmla="val 12828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DE1750-810D-4F26-BA2E-97B892C4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607695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55B"/>
          </a:solidFill>
          <a:ln xmlns:a="http://schemas.openxmlformats.org/drawingml/2006/main" w="0">
            <a:solidFill>
              <a:srgbClr val="F6C5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25C4AD-0029-4FE1-8025-5D14B8AFC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6210300"/>
            <a:ext cx="9753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Richer governance operations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7EAA57-DD74-49EB-9167-844435084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6534150"/>
            <a:ext cx="27813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E6D3"/>
                </a:solidFill>
              </a:defRPr>
            </a:pPr>
            <a:r>
              <a:rPr sz="1350">
                <a:solidFill>
                  <a:srgbClr val="B8E6D3"/>
                </a:solidFill>
              </a:rPr>
              <a:t>Contribution proof uploads, treasury balances, proposal voting, proposal closing, and project execution are integrated end to end.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AF1D25-6A27-4AB3-B755-888FDD09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8451" y="7624763"/>
            <a:ext cx="10202799" cy="1633538"/>
          </a:xfrm>
          <a:prstGeom xmlns:a="http://schemas.openxmlformats.org/drawingml/2006/main" prst="roundRect">
            <a:avLst>
              <a:gd name="adj" fmla="val 12828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38F0B7-4FB4-4B37-B73E-60BF9CAF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7848600"/>
            <a:ext cx="6858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CFB1"/>
          </a:solidFill>
          <a:ln xmlns:a="http://schemas.openxmlformats.org/drawingml/2006/main" w="0">
            <a:solidFill>
              <a:srgbClr val="7CCFB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9627F8-6F8B-46A2-A545-6084DB53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8001000"/>
            <a:ext cx="9753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Operational visibility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2F15FF-23CE-458B-9642-CB5B4BC98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8324850"/>
            <a:ext cx="31242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8E6D3"/>
                </a:solidFill>
              </a:defRPr>
            </a:pPr>
            <a:r>
              <a:rPr sz="1350">
                <a:solidFill>
                  <a:srgbClr val="B8E6D3"/>
                </a:solidFill>
              </a:rPr>
              <a:t>Portfolio pages, notification flows, audit logging, support flags, analytics, and admin dashboards expanded the system beyond the MVP shell.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F6FCF8-6336-4404-B2CB-C5B9544E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486900"/>
            <a:ext cx="144970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Mukwano | Final Project Presentation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5A23A1-F5B5-44E2-8189-1C549EB3F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9486900"/>
            <a:ext cx="2457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Demo mode build | governance-first MVP</a:t>
            </a:r>
          </a:p>
        </p:txBody>
      </p:sp>
    </p:spTree>
    <p:extLst>
      <p:ext uri="{BB962C8B-B14F-4D97-AF65-F5344CB8AC3E}">
        <p14:creationId xmlns:p14="http://schemas.microsoft.com/office/powerpoint/2010/main" val="151444287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1E9D4CD-27C2-4859-B1F9-A472FA83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66750"/>
            <a:ext cx="16954500" cy="171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6C55B"/>
                </a:solidFill>
              </a:defRPr>
            </a:pPr>
            <a:r>
              <a:rPr sz="1350" b="1">
                <a:solidFill>
                  <a:srgbClr val="F6C55B"/>
                </a:solidFill>
              </a:rPr>
              <a:t>06 | Live Demo 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C96A92-CA68-42BE-9FA2-2CB35E0C1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33450"/>
            <a:ext cx="10039350" cy="800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Our demo will follow one continuous story instead of jumping between unrelated pages.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62EBBB-97B3-4357-BCF9-140ED841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7296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A7B4C1"/>
                </a:solidFill>
              </a:defRPr>
            </a:pPr>
            <a:r>
              <a:rPr sz="1650">
                <a:solidFill>
                  <a:srgbClr val="A7B4C1"/>
                </a:solidFill>
              </a:rPr>
              <a:t>That keeps the audience focused on the workflow and the updates we added.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AC8511-B706-405C-BC81-C299278D8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8791099" cy="6991350"/>
          </a:xfrm>
          <a:prstGeom xmlns:a="http://schemas.openxmlformats.org/drawingml/2006/main" prst="roundRect">
            <a:avLst>
              <a:gd name="adj" fmla="val 3270"/>
            </a:avLst>
          </a:prstGeom>
          <a:solidFill xmlns:a="http://schemas.openxmlformats.org/drawingml/2006/main">
            <a:srgbClr val="0F2740"/>
          </a:solidFill>
          <a:ln xmlns:a="http://schemas.openxmlformats.org/drawingml/2006/main" w="9525">
            <a:solidFill>
              <a:srgbClr val="28486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4D69E6-5B22-40C4-BB2A-7DCA29884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82867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Demo sequence (5-8 min)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7C773E-54F8-4680-B99B-BA5067E9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7500"/>
            <a:ext cx="46482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Login with a prepared account and show the dashboard summary.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72A7F9-2C85-4D34-8F54-5B90E6552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33750"/>
            <a:ext cx="45148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Create or open a circle and explain roles, treasury, and governance settings.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C9D795-DF0E-4EEE-A7CC-2BB4965E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10000"/>
            <a:ext cx="4667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Submit a contribution, then verify it as an admin to show the balance update.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8C3BAF-3092-44A7-ABE2-9665768D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86250"/>
            <a:ext cx="4552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Create a proposal, cast votes, and show how a passed proposal becomes a project.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9C0E4-73E9-4A32-A330-E83CFAD6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4286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B8E6D3"/>
                </a:solidFill>
              </a:defRPr>
            </a:pPr>
            <a:r>
              <a:rPr sz="1425">
                <a:solidFill>
                  <a:srgbClr val="B8E6D3"/>
                </a:solidFill>
              </a:rPr>
              <a:t>• Open the project page and show progress updates, portfolio visibility, or admin tooling.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706512-3F9B-47FA-B402-7F62E683B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399" y="2266950"/>
            <a:ext cx="7953851" cy="6991350"/>
          </a:xfrm>
          <a:prstGeom xmlns:a="http://schemas.openxmlformats.org/drawingml/2006/main" prst="roundRect">
            <a:avLst>
              <a:gd name="adj" fmla="val 3270"/>
            </a:avLst>
          </a:prstGeom>
          <a:solidFill xmlns:a="http://schemas.openxmlformats.org/drawingml/2006/main">
            <a:srgbClr val="F5F1E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DF9002-A2F0-4E70-B3AD-7D2BCFF1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514600"/>
            <a:ext cx="7467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3A5F"/>
                </a:solidFill>
              </a:defRPr>
            </a:pPr>
            <a:r>
              <a:rPr sz="1800" b="1">
                <a:solidFill>
                  <a:srgbClr val="163A5F"/>
                </a:solidFill>
              </a:rPr>
              <a:t>What the class should notice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E9474-4E8A-4E66-94BB-357D37D81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857500"/>
            <a:ext cx="42291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63A5F"/>
                </a:solidFill>
              </a:defRPr>
            </a:pPr>
            <a:r>
              <a:rPr sz="1425">
                <a:solidFill>
                  <a:srgbClr val="163A5F"/>
                </a:solidFill>
              </a:rPr>
              <a:t>• The same user journey touches frontend, backend, and database-backed state.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077182-1A52-4E20-AA89-870D62F9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333750"/>
            <a:ext cx="4095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63A5F"/>
                </a:solidFill>
              </a:defRPr>
            </a:pPr>
            <a:r>
              <a:rPr sz="1425">
                <a:solidFill>
                  <a:srgbClr val="163A5F"/>
                </a:solidFill>
              </a:rPr>
              <a:t>• Governance decisions are not simulated in the UI alone; they change system state.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ACA45C-D03F-4916-A783-F56BD5E5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810000"/>
            <a:ext cx="37528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63A5F"/>
                </a:solidFill>
              </a:defRPr>
            </a:pPr>
            <a:r>
              <a:rPr sz="1425">
                <a:solidFill>
                  <a:srgbClr val="163A5F"/>
                </a:solidFill>
              </a:rPr>
              <a:t>• The post-initial-project updates appear in the verification, invite, portfolio, and admin flows.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833F2-DA2F-46BB-8FC4-2B9FDCFE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476750"/>
            <a:ext cx="42481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163A5F"/>
                </a:solidFill>
              </a:defRPr>
            </a:pPr>
            <a:r>
              <a:rPr sz="1425">
                <a:solidFill>
                  <a:srgbClr val="163A5F"/>
                </a:solidFill>
              </a:rPr>
              <a:t>• If a live action is slow, we can still show the resulting screens and explain the server logic behind them.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214A3D-9CEB-4281-9B40-0C554E37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124450"/>
            <a:ext cx="40386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71526"/>
                </a:solidFill>
              </a:defRPr>
            </a:pPr>
            <a:r>
              <a:rPr sz="1650" b="1">
                <a:solidFill>
                  <a:srgbClr val="071526"/>
                </a:solidFill>
              </a:rPr>
              <a:t>End on the project value: transparency + collective action for diaspora communities.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FC4026-8668-45ED-9756-DF4B6377B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486900"/>
            <a:ext cx="144970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Mukwano | Final Project Presentation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2FE58A-FCA7-44F3-B10D-D4D679A9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3800" y="9486900"/>
            <a:ext cx="2457450" cy="133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A7B4C1"/>
                </a:solidFill>
              </a:defRPr>
            </a:pPr>
            <a:r>
              <a:rPr sz="1050">
                <a:solidFill>
                  <a:srgbClr val="A7B4C1"/>
                </a:solidFill>
              </a:rPr>
              <a:t>Demo mode build | governance-first MVP</a:t>
            </a:r>
          </a:p>
        </p:txBody>
      </p:sp>
    </p:spTree>
    <p:extLst>
      <p:ext uri="{BB962C8B-B14F-4D97-AF65-F5344CB8AC3E}">
        <p14:creationId xmlns:p14="http://schemas.microsoft.com/office/powerpoint/2010/main" val="155236229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2026-04-27T14:31:03.9950000Z</dcterms:created>
  <dcterms:modified xsi:type="dcterms:W3CDTF">2026-04-27T14:31:03.9950000Z</dcterms:modified>
</coreProperties>
</file>