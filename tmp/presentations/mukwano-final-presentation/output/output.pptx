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9"/>
  </p:normalViewPr>
  <p:slideViewPr>
    <p:cSldViewPr snapToGrid="0">
      <p:cViewPr varScale="1">
        <p:scale>
          <a:sx n="73" d="100"/>
          <a:sy n="73" d="100"/>
        </p:scale>
        <p:origin x="70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5843CE4-EC50-43F6-84AF-9AD92580ACC9}"/>
              </a:ext>
            </a:extLst>
          </p:cNvPr>
          <p:cNvSpPr>
            <a:spLocks noGrp="1"/>
          </p:cNvSpPr>
          <p:nvPr/>
        </p:nvSpPr>
        <p:spPr>
          <a:xfrm>
            <a:off x="0" y="457200"/>
            <a:ext cx="18288000" cy="10287000"/>
          </a:xfrm>
          <a:prstGeom prst="roundRect">
            <a:avLst>
              <a:gd name="adj" fmla="val 741"/>
            </a:avLst>
          </a:prstGeom>
          <a:solidFill>
            <a:srgbClr val="07152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F87F9C-3A49-422C-8028-DA51DF3B2B0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6677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6C55B"/>
                </a:solidFill>
              </a:defRPr>
            </a:pPr>
            <a:r>
              <a:rPr sz="1500" b="1" dirty="0">
                <a:solidFill>
                  <a:srgbClr val="F6C55B"/>
                </a:solidFill>
              </a:rPr>
              <a:t>CS Final </a:t>
            </a:r>
            <a:r>
              <a:rPr sz="1500" b="1" dirty="0" err="1">
                <a:solidFill>
                  <a:srgbClr val="F6C55B"/>
                </a:solidFill>
              </a:rPr>
              <a:t>oject</a:t>
            </a:r>
            <a:endParaRPr sz="1500" b="1" dirty="0">
              <a:solidFill>
                <a:srgbClr val="F6C55B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37D1D3-96A8-4C1E-BF5C-E31D30E4FC13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8667750" cy="762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rPr sz="6000" b="1" dirty="0" err="1">
                <a:solidFill>
                  <a:srgbClr val="FFFFFF"/>
                </a:solidFill>
              </a:rPr>
              <a:t>Mukwano</a:t>
            </a:r>
            <a:endParaRPr sz="6000" b="1" dirty="0">
              <a:solidFill>
                <a:srgbClr val="FFFFFF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793BFB-C1E0-4ADF-8831-BF7DAF9BDD19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62865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B8E6D3"/>
                </a:solidFill>
              </a:defRPr>
            </a:pPr>
            <a:r>
              <a:rPr sz="2250">
                <a:solidFill>
                  <a:srgbClr val="B8E6D3"/>
                </a:solidFill>
              </a:rPr>
              <a:t>Governance-first community funding for diaspora circles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BD72CA-29CA-4E62-8E88-5EDFE71DD02A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68389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5F1E8"/>
                </a:solidFill>
              </a:defRPr>
            </a:pPr>
            <a:r>
              <a:rPr sz="1800">
                <a:solidFill>
                  <a:srgbClr val="F5F1E8"/>
                </a:solidFill>
              </a:rPr>
              <a:t>• Users form circles, contribute funds, vote on proposals, and track funded projects.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7162A3-7DC3-407A-A0AB-B0392AC0DF38}"/>
              </a:ext>
            </a:extLst>
          </p:cNvPr>
          <p:cNvSpPr>
            <a:spLocks noGrp="1"/>
          </p:cNvSpPr>
          <p:nvPr/>
        </p:nvSpPr>
        <p:spPr>
          <a:xfrm>
            <a:off x="685800" y="3276600"/>
            <a:ext cx="64770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5F1E8"/>
                </a:solidFill>
              </a:defRPr>
            </a:pPr>
            <a:r>
              <a:rPr sz="1800">
                <a:solidFill>
                  <a:srgbClr val="F5F1E8"/>
                </a:solidFill>
              </a:rPr>
              <a:t>• The server enforces permissions, balance mutations, and vote outcomes so the UI cannot override governance.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E6B72-F631-432B-9D3F-B14738D18340}"/>
              </a:ext>
            </a:extLst>
          </p:cNvPr>
          <p:cNvSpPr>
            <a:spLocks noGrp="1"/>
          </p:cNvSpPr>
          <p:nvPr/>
        </p:nvSpPr>
        <p:spPr>
          <a:xfrm>
            <a:off x="685800" y="3829050"/>
            <a:ext cx="64389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F5F1E8"/>
                </a:solidFill>
              </a:defRPr>
            </a:pPr>
            <a:r>
              <a:rPr sz="1800">
                <a:solidFill>
                  <a:srgbClr val="F5F1E8"/>
                </a:solidFill>
              </a:rPr>
              <a:t>• Today’s presentation covers the system, key features, and the updates added after the initial project.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9AC5E2-A59E-4B64-9182-9679148BBEF6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381000" cy="27622500"/>
          </a:xfrm>
          <a:prstGeom prst="roundRect">
            <a:avLst>
              <a:gd name="adj" fmla="val 50000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A6166-37B4-4CC1-B889-AA28993E166F}"/>
              </a:ext>
            </a:extLst>
          </p:cNvPr>
          <p:cNvSpPr>
            <a:spLocks noGrp="1"/>
          </p:cNvSpPr>
          <p:nvPr/>
        </p:nvSpPr>
        <p:spPr>
          <a:xfrm>
            <a:off x="685800" y="32251650"/>
            <a:ext cx="86677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Team Mukwano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ACB6619-6033-4F30-B90E-CECB01B857CF}"/>
              </a:ext>
            </a:extLst>
          </p:cNvPr>
          <p:cNvSpPr>
            <a:spLocks noGrp="1"/>
          </p:cNvSpPr>
          <p:nvPr/>
        </p:nvSpPr>
        <p:spPr>
          <a:xfrm>
            <a:off x="9756934" y="685800"/>
            <a:ext cx="7845266" cy="1619250"/>
          </a:xfrm>
          <a:prstGeom prst="roundRect">
            <a:avLst>
              <a:gd name="adj" fmla="val 15294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D5F5B0-FE26-40AA-960B-885522E92AD7}"/>
              </a:ext>
            </a:extLst>
          </p:cNvPr>
          <p:cNvSpPr>
            <a:spLocks noGrp="1"/>
          </p:cNvSpPr>
          <p:nvPr/>
        </p:nvSpPr>
        <p:spPr>
          <a:xfrm>
            <a:off x="9985534" y="914400"/>
            <a:ext cx="1238250" cy="1238250"/>
          </a:xfrm>
          <a:prstGeom prst="roundRect">
            <a:avLst>
              <a:gd name="adj" fmla="val 21538"/>
            </a:avLst>
          </a:prstGeom>
          <a:solidFill>
            <a:srgbClr val="07152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B70289-6605-4401-B388-63103865DA9A}"/>
              </a:ext>
            </a:extLst>
          </p:cNvPr>
          <p:cNvSpPr>
            <a:spLocks noGrp="1"/>
          </p:cNvSpPr>
          <p:nvPr/>
        </p:nvSpPr>
        <p:spPr>
          <a:xfrm>
            <a:off x="10267950" y="1200150"/>
            <a:ext cx="666750" cy="5905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4650" b="1">
                <a:solidFill>
                  <a:srgbClr val="F6C55B"/>
                </a:solidFill>
              </a:defRPr>
            </a:pPr>
            <a:r>
              <a:rPr sz="4650" b="1">
                <a:solidFill>
                  <a:srgbClr val="F6C55B"/>
                </a:solidFill>
              </a:rPr>
              <a:t>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CC482-D623-4663-9830-C7F0B2BA9465}"/>
              </a:ext>
            </a:extLst>
          </p:cNvPr>
          <p:cNvSpPr>
            <a:spLocks noGrp="1"/>
          </p:cNvSpPr>
          <p:nvPr/>
        </p:nvSpPr>
        <p:spPr>
          <a:xfrm>
            <a:off x="10267950" y="1847850"/>
            <a:ext cx="666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350">
                <a:solidFill>
                  <a:srgbClr val="F5F1E8"/>
                </a:solidFill>
              </a:defRPr>
            </a:pPr>
            <a:r>
              <a:rPr sz="1350" dirty="0" err="1">
                <a:solidFill>
                  <a:srgbClr val="F5F1E8"/>
                </a:solidFill>
              </a:rPr>
              <a:t>Mukwano</a:t>
            </a:r>
            <a:endParaRPr sz="1350" dirty="0">
              <a:solidFill>
                <a:srgbClr val="F5F1E8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62E27-5BEF-4AC0-B47C-A3D4F900C2CA}"/>
              </a:ext>
            </a:extLst>
          </p:cNvPr>
          <p:cNvSpPr>
            <a:spLocks noGrp="1"/>
          </p:cNvSpPr>
          <p:nvPr/>
        </p:nvSpPr>
        <p:spPr>
          <a:xfrm>
            <a:off x="11430000" y="914400"/>
            <a:ext cx="5943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700" b="1">
                <a:solidFill>
                  <a:srgbClr val="071526"/>
                </a:solidFill>
              </a:defRPr>
            </a:pPr>
            <a:r>
              <a:rPr sz="2700" b="1">
                <a:solidFill>
                  <a:srgbClr val="071526"/>
                </a:solidFill>
              </a:rPr>
              <a:t>Build home together.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DC9FD5-3AFA-4DEE-9994-68431634866F}"/>
              </a:ext>
            </a:extLst>
          </p:cNvPr>
          <p:cNvSpPr>
            <a:spLocks noGrp="1"/>
          </p:cNvSpPr>
          <p:nvPr/>
        </p:nvSpPr>
        <p:spPr>
          <a:xfrm>
            <a:off x="11430000" y="1333500"/>
            <a:ext cx="34480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163A5F"/>
                </a:solidFill>
              </a:defRPr>
            </a:pPr>
            <a:r>
              <a:rPr sz="1500" dirty="0">
                <a:solidFill>
                  <a:srgbClr val="163A5F"/>
                </a:solidFill>
              </a:rPr>
              <a:t>Friendship, accountability, and collective action are the product story behind the platform.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4DE9F8-8C10-4E4A-AEA5-7A09654BA78B}"/>
              </a:ext>
            </a:extLst>
          </p:cNvPr>
          <p:cNvSpPr>
            <a:spLocks noGrp="1"/>
          </p:cNvSpPr>
          <p:nvPr/>
        </p:nvSpPr>
        <p:spPr>
          <a:xfrm>
            <a:off x="9756934" y="2476500"/>
            <a:ext cx="7845266" cy="6819900"/>
          </a:xfrm>
          <a:prstGeom prst="roundRect">
            <a:avLst>
              <a:gd name="adj" fmla="val 3911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5C391D-7C74-4449-887A-71A81C825E8A}"/>
              </a:ext>
            </a:extLst>
          </p:cNvPr>
          <p:cNvSpPr>
            <a:spLocks noGrp="1"/>
          </p:cNvSpPr>
          <p:nvPr/>
        </p:nvSpPr>
        <p:spPr>
          <a:xfrm>
            <a:off x="10020300" y="2743200"/>
            <a:ext cx="7315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6C55B"/>
                </a:solidFill>
              </a:defRPr>
            </a:pPr>
            <a:r>
              <a:rPr sz="1800" b="1">
                <a:solidFill>
                  <a:srgbClr val="F6C55B"/>
                </a:solidFill>
              </a:rPr>
              <a:t>Three product pillars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8E8A080-482E-4C49-8190-9828E4610A41}"/>
              </a:ext>
            </a:extLst>
          </p:cNvPr>
          <p:cNvSpPr>
            <a:spLocks noGrp="1"/>
          </p:cNvSpPr>
          <p:nvPr/>
        </p:nvSpPr>
        <p:spPr>
          <a:xfrm>
            <a:off x="10023634" y="3143250"/>
            <a:ext cx="2348389" cy="1619250"/>
          </a:xfrm>
          <a:prstGeom prst="roundRect">
            <a:avLst>
              <a:gd name="adj" fmla="val 12941"/>
            </a:avLst>
          </a:prstGeom>
          <a:solidFill>
            <a:srgbClr val="153552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CF9BD8-4242-45F0-9F89-016B38CE1022}"/>
              </a:ext>
            </a:extLst>
          </p:cNvPr>
          <p:cNvSpPr>
            <a:spLocks noGrp="1"/>
          </p:cNvSpPr>
          <p:nvPr/>
        </p:nvSpPr>
        <p:spPr>
          <a:xfrm>
            <a:off x="10191750" y="331470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Trust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76CB23-AD18-4B88-A57B-EB37E80227E0}"/>
              </a:ext>
            </a:extLst>
          </p:cNvPr>
          <p:cNvSpPr>
            <a:spLocks noGrp="1"/>
          </p:cNvSpPr>
          <p:nvPr/>
        </p:nvSpPr>
        <p:spPr>
          <a:xfrm>
            <a:off x="10191750" y="3657600"/>
            <a:ext cx="1714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Clear permissions and protected workflows.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F9FC257-D27B-4E99-9384-99EAD793D6D6}"/>
              </a:ext>
            </a:extLst>
          </p:cNvPr>
          <p:cNvSpPr>
            <a:spLocks noGrp="1"/>
          </p:cNvSpPr>
          <p:nvPr/>
        </p:nvSpPr>
        <p:spPr>
          <a:xfrm>
            <a:off x="12505372" y="3143250"/>
            <a:ext cx="2348389" cy="1619250"/>
          </a:xfrm>
          <a:prstGeom prst="roundRect">
            <a:avLst>
              <a:gd name="adj" fmla="val 12941"/>
            </a:avLst>
          </a:prstGeom>
          <a:solidFill>
            <a:srgbClr val="173B5C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B20CADF-B6CD-4F44-A84D-9179FA5C121F}"/>
              </a:ext>
            </a:extLst>
          </p:cNvPr>
          <p:cNvSpPr>
            <a:spLocks noGrp="1"/>
          </p:cNvSpPr>
          <p:nvPr/>
        </p:nvSpPr>
        <p:spPr>
          <a:xfrm>
            <a:off x="12668250" y="331470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B8B30D-7D7F-4EDB-8C7B-6D9C37897134}"/>
              </a:ext>
            </a:extLst>
          </p:cNvPr>
          <p:cNvSpPr>
            <a:spLocks noGrp="1"/>
          </p:cNvSpPr>
          <p:nvPr/>
        </p:nvSpPr>
        <p:spPr>
          <a:xfrm>
            <a:off x="12668250" y="3657600"/>
            <a:ext cx="16764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Vote-driven proposals with circle-defined rules.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25F039A-391D-4ACB-AE17-E606FC7F2B04}"/>
              </a:ext>
            </a:extLst>
          </p:cNvPr>
          <p:cNvSpPr>
            <a:spLocks noGrp="1"/>
          </p:cNvSpPr>
          <p:nvPr/>
        </p:nvSpPr>
        <p:spPr>
          <a:xfrm>
            <a:off x="14987111" y="3143250"/>
            <a:ext cx="2348389" cy="1619250"/>
          </a:xfrm>
          <a:prstGeom prst="roundRect">
            <a:avLst>
              <a:gd name="adj" fmla="val 12941"/>
            </a:avLst>
          </a:prstGeom>
          <a:solidFill>
            <a:srgbClr val="1A4166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7B82EE-37EC-436D-9985-FA8269AFDD4E}"/>
              </a:ext>
            </a:extLst>
          </p:cNvPr>
          <p:cNvSpPr>
            <a:spLocks noGrp="1"/>
          </p:cNvSpPr>
          <p:nvPr/>
        </p:nvSpPr>
        <p:spPr>
          <a:xfrm>
            <a:off x="15163800" y="3314700"/>
            <a:ext cx="20002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Execution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9F69A8-939A-44B4-B57D-E7CE891CA8DF}"/>
              </a:ext>
            </a:extLst>
          </p:cNvPr>
          <p:cNvSpPr>
            <a:spLocks noGrp="1"/>
          </p:cNvSpPr>
          <p:nvPr/>
        </p:nvSpPr>
        <p:spPr>
          <a:xfrm>
            <a:off x="15163800" y="3657600"/>
            <a:ext cx="15430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Fund projects, track progress, and close the loop.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286017F-A2CA-4D61-AC01-14EB7FAD9F1C}"/>
              </a:ext>
            </a:extLst>
          </p:cNvPr>
          <p:cNvSpPr>
            <a:spLocks noGrp="1"/>
          </p:cNvSpPr>
          <p:nvPr/>
        </p:nvSpPr>
        <p:spPr>
          <a:xfrm>
            <a:off x="10023634" y="4933950"/>
            <a:ext cx="7311866" cy="4095750"/>
          </a:xfrm>
          <a:prstGeom prst="roundRect">
            <a:avLst>
              <a:gd name="adj" fmla="val 5116"/>
            </a:avLst>
          </a:prstGeom>
          <a:solidFill>
            <a:srgbClr val="0C1F31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76A067-4DD8-41A3-B7BF-9DDADCD990E2}"/>
              </a:ext>
            </a:extLst>
          </p:cNvPr>
          <p:cNvSpPr>
            <a:spLocks noGrp="1"/>
          </p:cNvSpPr>
          <p:nvPr/>
        </p:nvSpPr>
        <p:spPr>
          <a:xfrm>
            <a:off x="10210800" y="5124450"/>
            <a:ext cx="50292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F5F1E8"/>
                </a:solidFill>
              </a:defRPr>
            </a:pPr>
            <a:r>
              <a:rPr sz="2250" b="1">
                <a:solidFill>
                  <a:srgbClr val="F5F1E8"/>
                </a:solidFill>
              </a:rPr>
              <a:t>Community money should move with the same visibility as community trust.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A28B35-5829-40B4-A97A-CBF8146DE3EB}"/>
              </a:ext>
            </a:extLst>
          </p:cNvPr>
          <p:cNvSpPr>
            <a:spLocks noGrp="1"/>
          </p:cNvSpPr>
          <p:nvPr/>
        </p:nvSpPr>
        <p:spPr>
          <a:xfrm>
            <a:off x="9753600" y="9467850"/>
            <a:ext cx="53911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530704-8E48-4922-A69B-792B1F5DD8F1}"/>
              </a:ext>
            </a:extLst>
          </p:cNvPr>
          <p:cNvSpPr>
            <a:spLocks noGrp="1"/>
          </p:cNvSpPr>
          <p:nvPr/>
        </p:nvSpPr>
        <p:spPr>
          <a:xfrm>
            <a:off x="15144750" y="946785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206829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30CB1C9-2A84-4743-BE8B-041D02EA82A4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695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01 | Problem and Product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90BD6-2968-4FF2-A37A-C9F5B5B1544F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112966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Diaspora groups already pool money. The hard part is trust, coordination, and transparent governance.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6A96C3-8604-4437-A0B7-5889D8000DD0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7353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Mukwano turns a familiar community practice into a traceable digital workflow.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D58B2F-BFFE-40A9-A1EA-20F42E6726C5}"/>
              </a:ext>
            </a:extLst>
          </p:cNvPr>
          <p:cNvSpPr>
            <a:spLocks noGrp="1"/>
          </p:cNvSpPr>
          <p:nvPr/>
        </p:nvSpPr>
        <p:spPr>
          <a:xfrm>
            <a:off x="666750" y="2495550"/>
            <a:ext cx="7926705" cy="4953000"/>
          </a:xfrm>
          <a:prstGeom prst="roundRect">
            <a:avLst>
              <a:gd name="adj" fmla="val 5000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ED6AEA-209B-4EC6-BDAA-148434E67D82}"/>
              </a:ext>
            </a:extLst>
          </p:cNvPr>
          <p:cNvSpPr>
            <a:spLocks noGrp="1"/>
          </p:cNvSpPr>
          <p:nvPr/>
        </p:nvSpPr>
        <p:spPr>
          <a:xfrm>
            <a:off x="933450" y="2762250"/>
            <a:ext cx="73914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63A5F"/>
                </a:solidFill>
              </a:defRPr>
            </a:pPr>
            <a:r>
              <a:rPr sz="1650" b="1">
                <a:solidFill>
                  <a:srgbClr val="163A5F"/>
                </a:solidFill>
              </a:rPr>
              <a:t>Core challenge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935866-23B2-42C4-B78B-135358D3FD99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4724400" cy="1485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325" b="1">
                <a:solidFill>
                  <a:srgbClr val="071526"/>
                </a:solidFill>
              </a:defRPr>
            </a:pPr>
            <a:r>
              <a:rPr sz="2325" b="1">
                <a:solidFill>
                  <a:srgbClr val="071526"/>
                </a:solidFill>
              </a:rPr>
              <a:t>Informal community fundraising breaks down when records are fragmented, approvals are ambiguous, and members cannot verify where the money went.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F9E3B8-9209-4373-AF74-55B1016A638B}"/>
              </a:ext>
            </a:extLst>
          </p:cNvPr>
          <p:cNvSpPr>
            <a:spLocks noGrp="1"/>
          </p:cNvSpPr>
          <p:nvPr/>
        </p:nvSpPr>
        <p:spPr>
          <a:xfrm>
            <a:off x="933450" y="4724400"/>
            <a:ext cx="4038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63A5F"/>
                </a:solidFill>
              </a:defRPr>
            </a:pPr>
            <a:r>
              <a:rPr sz="1650">
                <a:solidFill>
                  <a:srgbClr val="163A5F"/>
                </a:solidFill>
              </a:rPr>
              <a:t>That makes accountability social instead of system-enforced.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9B75F81-95FB-4776-852A-B063D6B2F698}"/>
              </a:ext>
            </a:extLst>
          </p:cNvPr>
          <p:cNvSpPr>
            <a:spLocks noGrp="1"/>
          </p:cNvSpPr>
          <p:nvPr/>
        </p:nvSpPr>
        <p:spPr>
          <a:xfrm>
            <a:off x="666750" y="7620000"/>
            <a:ext cx="3887152" cy="1619250"/>
          </a:xfrm>
          <a:prstGeom prst="roundRect">
            <a:avLst>
              <a:gd name="adj" fmla="val 12941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39A70D-2BE2-40D5-9C41-DD5FEEA49275}"/>
              </a:ext>
            </a:extLst>
          </p:cNvPr>
          <p:cNvSpPr>
            <a:spLocks noGrp="1"/>
          </p:cNvSpPr>
          <p:nvPr/>
        </p:nvSpPr>
        <p:spPr>
          <a:xfrm>
            <a:off x="895350" y="7848600"/>
            <a:ext cx="685800" cy="47625"/>
          </a:xfrm>
          <a:prstGeom prst="rect">
            <a:avLst/>
          </a:prstGeom>
          <a:solidFill>
            <a:srgbClr val="E67D7D"/>
          </a:solidFill>
          <a:ln w="0">
            <a:solidFill>
              <a:srgbClr val="E67D7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2D67DA-2A2B-4403-8511-0E60BEE878AF}"/>
              </a:ext>
            </a:extLst>
          </p:cNvPr>
          <p:cNvSpPr>
            <a:spLocks noGrp="1"/>
          </p:cNvSpPr>
          <p:nvPr/>
        </p:nvSpPr>
        <p:spPr>
          <a:xfrm>
            <a:off x="895350" y="80010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Diaspora pain point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AF9DA6-C7AE-4F0D-ABFB-2948513C6E06}"/>
              </a:ext>
            </a:extLst>
          </p:cNvPr>
          <p:cNvSpPr>
            <a:spLocks noGrp="1"/>
          </p:cNvSpPr>
          <p:nvPr/>
        </p:nvSpPr>
        <p:spPr>
          <a:xfrm>
            <a:off x="895350" y="8324850"/>
            <a:ext cx="3124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Spreadsheet records, group chats, and verbal approvals make contributions and decisions hard to audit.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95E998-3CE8-4084-B537-B8F4388F65EE}"/>
              </a:ext>
            </a:extLst>
          </p:cNvPr>
          <p:cNvSpPr>
            <a:spLocks noGrp="1"/>
          </p:cNvSpPr>
          <p:nvPr/>
        </p:nvSpPr>
        <p:spPr>
          <a:xfrm>
            <a:off x="4706303" y="7620000"/>
            <a:ext cx="3887152" cy="1619250"/>
          </a:xfrm>
          <a:prstGeom prst="roundRect">
            <a:avLst>
              <a:gd name="adj" fmla="val 12941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EF83DB-DC7A-4625-96BE-B84F7401912D}"/>
              </a:ext>
            </a:extLst>
          </p:cNvPr>
          <p:cNvSpPr>
            <a:spLocks noGrp="1"/>
          </p:cNvSpPr>
          <p:nvPr/>
        </p:nvSpPr>
        <p:spPr>
          <a:xfrm>
            <a:off x="4933950" y="7848600"/>
            <a:ext cx="685800" cy="47625"/>
          </a:xfrm>
          <a:prstGeom prst="rect">
            <a:avLst/>
          </a:prstGeom>
          <a:solidFill>
            <a:srgbClr val="7CCFB1"/>
          </a:solidFill>
          <a:ln w="0">
            <a:solidFill>
              <a:srgbClr val="7CC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B4E306-05EC-4B8E-9BA2-41723EB432BB}"/>
              </a:ext>
            </a:extLst>
          </p:cNvPr>
          <p:cNvSpPr>
            <a:spLocks noGrp="1"/>
          </p:cNvSpPr>
          <p:nvPr/>
        </p:nvSpPr>
        <p:spPr>
          <a:xfrm>
            <a:off x="4933950" y="8001000"/>
            <a:ext cx="3429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Mukwano response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D1BAB7-86C6-4CF1-AD40-78F4579D608D}"/>
              </a:ext>
            </a:extLst>
          </p:cNvPr>
          <p:cNvSpPr>
            <a:spLocks noGrp="1"/>
          </p:cNvSpPr>
          <p:nvPr/>
        </p:nvSpPr>
        <p:spPr>
          <a:xfrm>
            <a:off x="4933950" y="8324850"/>
            <a:ext cx="27432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A single platform tracks members, contributions, proposals, votes, and funded projects end to end.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EF8461C-137F-458E-9A15-F2FA3A6120D8}"/>
              </a:ext>
            </a:extLst>
          </p:cNvPr>
          <p:cNvSpPr>
            <a:spLocks noGrp="1"/>
          </p:cNvSpPr>
          <p:nvPr/>
        </p:nvSpPr>
        <p:spPr>
          <a:xfrm>
            <a:off x="8860155" y="2495550"/>
            <a:ext cx="8761095" cy="2724150"/>
          </a:xfrm>
          <a:prstGeom prst="roundRect">
            <a:avLst>
              <a:gd name="adj" fmla="val 8392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C73B9D-F156-4E80-99C6-0008EF6FD881}"/>
              </a:ext>
            </a:extLst>
          </p:cNvPr>
          <p:cNvSpPr>
            <a:spLocks noGrp="1"/>
          </p:cNvSpPr>
          <p:nvPr/>
        </p:nvSpPr>
        <p:spPr>
          <a:xfrm>
            <a:off x="9105900" y="2743200"/>
            <a:ext cx="8267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What the platform must guarantee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F498D3-EF18-411C-9298-557CCD64059D}"/>
              </a:ext>
            </a:extLst>
          </p:cNvPr>
          <p:cNvSpPr>
            <a:spLocks noGrp="1"/>
          </p:cNvSpPr>
          <p:nvPr/>
        </p:nvSpPr>
        <p:spPr>
          <a:xfrm>
            <a:off x="9105900" y="3086100"/>
            <a:ext cx="47244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Only approved members can participate in circle actions.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EC024B-F9DF-4CD2-9D09-D5C53612F60D}"/>
              </a:ext>
            </a:extLst>
          </p:cNvPr>
          <p:cNvSpPr>
            <a:spLocks noGrp="1"/>
          </p:cNvSpPr>
          <p:nvPr/>
        </p:nvSpPr>
        <p:spPr>
          <a:xfrm>
            <a:off x="9105900" y="3562350"/>
            <a:ext cx="4667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Every contribution must be reviewed and reflected in the treasury ledger.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E72E480-0EC8-4F80-B6CF-33124EACD5AD}"/>
              </a:ext>
            </a:extLst>
          </p:cNvPr>
          <p:cNvSpPr>
            <a:spLocks noGrp="1"/>
          </p:cNvSpPr>
          <p:nvPr/>
        </p:nvSpPr>
        <p:spPr>
          <a:xfrm>
            <a:off x="9105900" y="4038600"/>
            <a:ext cx="48387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Proposal outcomes depend on quorum and approval rules stored on the server.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3593D7-1796-4BF5-9C04-1B43C66E13E5}"/>
              </a:ext>
            </a:extLst>
          </p:cNvPr>
          <p:cNvSpPr>
            <a:spLocks noGrp="1"/>
          </p:cNvSpPr>
          <p:nvPr/>
        </p:nvSpPr>
        <p:spPr>
          <a:xfrm>
            <a:off x="9105900" y="4514850"/>
            <a:ext cx="4286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Projects only move forward after a passed vote and available treasury balance.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647F990-4F91-4ADF-9248-3007BB2138C3}"/>
              </a:ext>
            </a:extLst>
          </p:cNvPr>
          <p:cNvSpPr>
            <a:spLocks noGrp="1"/>
          </p:cNvSpPr>
          <p:nvPr/>
        </p:nvSpPr>
        <p:spPr>
          <a:xfrm>
            <a:off x="8860155" y="5391150"/>
            <a:ext cx="8761095" cy="3848100"/>
          </a:xfrm>
          <a:prstGeom prst="roundRect">
            <a:avLst>
              <a:gd name="adj" fmla="val 5941"/>
            </a:avLst>
          </a:prstGeom>
          <a:solidFill>
            <a:srgbClr val="0C1F31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F508C3-DD5A-434C-AB6B-3851B6990EA6}"/>
              </a:ext>
            </a:extLst>
          </p:cNvPr>
          <p:cNvSpPr>
            <a:spLocks noGrp="1"/>
          </p:cNvSpPr>
          <p:nvPr/>
        </p:nvSpPr>
        <p:spPr>
          <a:xfrm>
            <a:off x="9067800" y="5600700"/>
            <a:ext cx="8343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6C55B"/>
                </a:solidFill>
              </a:defRPr>
            </a:pPr>
            <a:r>
              <a:rPr sz="1800" b="1">
                <a:solidFill>
                  <a:srgbClr val="F6C55B"/>
                </a:solidFill>
              </a:rPr>
              <a:t>Governance loop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3575A0F-4AF2-44F7-8502-8D8AB7E9889C}"/>
              </a:ext>
            </a:extLst>
          </p:cNvPr>
          <p:cNvSpPr>
            <a:spLocks noGrp="1"/>
          </p:cNvSpPr>
          <p:nvPr/>
        </p:nvSpPr>
        <p:spPr>
          <a:xfrm>
            <a:off x="9069705" y="5981700"/>
            <a:ext cx="1985486" cy="3048000"/>
          </a:xfrm>
          <a:prstGeom prst="roundRect">
            <a:avLst>
              <a:gd name="adj" fmla="val 863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47F961-D67C-40AB-9F8A-8F44C9557FB3}"/>
              </a:ext>
            </a:extLst>
          </p:cNvPr>
          <p:cNvSpPr>
            <a:spLocks noGrp="1"/>
          </p:cNvSpPr>
          <p:nvPr/>
        </p:nvSpPr>
        <p:spPr>
          <a:xfrm>
            <a:off x="9239250" y="6153150"/>
            <a:ext cx="163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6C55B"/>
                </a:solidFill>
              </a:defRPr>
            </a:pPr>
            <a:r>
              <a:rPr sz="2100" b="1">
                <a:solidFill>
                  <a:srgbClr val="F6C55B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A5C29B5-6885-46C9-A9C4-F8F148744918}"/>
              </a:ext>
            </a:extLst>
          </p:cNvPr>
          <p:cNvSpPr>
            <a:spLocks noGrp="1"/>
          </p:cNvSpPr>
          <p:nvPr/>
        </p:nvSpPr>
        <p:spPr>
          <a:xfrm>
            <a:off x="9239250" y="6496050"/>
            <a:ext cx="971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Contribute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86CDA9-EC53-40E3-8CC4-0BDEEB5F006E}"/>
              </a:ext>
            </a:extLst>
          </p:cNvPr>
          <p:cNvSpPr>
            <a:spLocks noGrp="1"/>
          </p:cNvSpPr>
          <p:nvPr/>
        </p:nvSpPr>
        <p:spPr>
          <a:xfrm>
            <a:off x="9239250" y="6762750"/>
            <a:ext cx="2171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Member submits contribution and optional proof.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49E6E2-E113-4993-927B-A5FB1DEBDD10}"/>
              </a:ext>
            </a:extLst>
          </p:cNvPr>
          <p:cNvSpPr>
            <a:spLocks noGrp="1"/>
          </p:cNvSpPr>
          <p:nvPr/>
        </p:nvSpPr>
        <p:spPr>
          <a:xfrm>
            <a:off x="11188541" y="5981700"/>
            <a:ext cx="1985486" cy="3048000"/>
          </a:xfrm>
          <a:prstGeom prst="roundRect">
            <a:avLst>
              <a:gd name="adj" fmla="val 863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F1CC4EA-5471-4225-835E-019F0EA5E679}"/>
              </a:ext>
            </a:extLst>
          </p:cNvPr>
          <p:cNvSpPr>
            <a:spLocks noGrp="1"/>
          </p:cNvSpPr>
          <p:nvPr/>
        </p:nvSpPr>
        <p:spPr>
          <a:xfrm>
            <a:off x="11353800" y="6153150"/>
            <a:ext cx="163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CFB1"/>
                </a:solidFill>
              </a:defRPr>
            </a:pPr>
            <a:r>
              <a:rPr sz="2100" b="1">
                <a:solidFill>
                  <a:srgbClr val="7CCFB1"/>
                </a:solidFill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EF869A-4CCE-4934-9AB4-48E60DD9AC38}"/>
              </a:ext>
            </a:extLst>
          </p:cNvPr>
          <p:cNvSpPr>
            <a:spLocks noGrp="1"/>
          </p:cNvSpPr>
          <p:nvPr/>
        </p:nvSpPr>
        <p:spPr>
          <a:xfrm>
            <a:off x="11353800" y="6496050"/>
            <a:ext cx="495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1AC6554-7404-4762-B9EE-BCB89D8CE049}"/>
              </a:ext>
            </a:extLst>
          </p:cNvPr>
          <p:cNvSpPr>
            <a:spLocks noGrp="1"/>
          </p:cNvSpPr>
          <p:nvPr/>
        </p:nvSpPr>
        <p:spPr>
          <a:xfrm>
            <a:off x="11353800" y="6762750"/>
            <a:ext cx="1809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Admin approves; ledger and treasury update.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89AF19B-2EC5-4FD2-8E62-F7B7200C1080}"/>
              </a:ext>
            </a:extLst>
          </p:cNvPr>
          <p:cNvSpPr>
            <a:spLocks noGrp="1"/>
          </p:cNvSpPr>
          <p:nvPr/>
        </p:nvSpPr>
        <p:spPr>
          <a:xfrm>
            <a:off x="13307378" y="5981700"/>
            <a:ext cx="1985486" cy="3048000"/>
          </a:xfrm>
          <a:prstGeom prst="roundRect">
            <a:avLst>
              <a:gd name="adj" fmla="val 863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EEC64B-DA3D-4815-80F9-F1330A8D6F3D}"/>
              </a:ext>
            </a:extLst>
          </p:cNvPr>
          <p:cNvSpPr>
            <a:spLocks noGrp="1"/>
          </p:cNvSpPr>
          <p:nvPr/>
        </p:nvSpPr>
        <p:spPr>
          <a:xfrm>
            <a:off x="13487400" y="6153150"/>
            <a:ext cx="163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6C55B"/>
                </a:solidFill>
              </a:defRPr>
            </a:pPr>
            <a:r>
              <a:rPr sz="2100" b="1">
                <a:solidFill>
                  <a:srgbClr val="F6C55B"/>
                </a:solidFill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D9AAF-44EC-43DF-A434-2EA1D63C881A}"/>
              </a:ext>
            </a:extLst>
          </p:cNvPr>
          <p:cNvSpPr>
            <a:spLocks noGrp="1"/>
          </p:cNvSpPr>
          <p:nvPr/>
        </p:nvSpPr>
        <p:spPr>
          <a:xfrm>
            <a:off x="13487400" y="6496050"/>
            <a:ext cx="400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Vote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AA7DFA4-F8A4-4CBC-956D-E4B9E473F21A}"/>
              </a:ext>
            </a:extLst>
          </p:cNvPr>
          <p:cNvSpPr>
            <a:spLocks noGrp="1"/>
          </p:cNvSpPr>
          <p:nvPr/>
        </p:nvSpPr>
        <p:spPr>
          <a:xfrm>
            <a:off x="13487400" y="6762750"/>
            <a:ext cx="1790700" cy="438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Members vote on proposals under stored rules.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696683A-F36B-44A9-81E6-010C394C7EE9}"/>
              </a:ext>
            </a:extLst>
          </p:cNvPr>
          <p:cNvSpPr>
            <a:spLocks noGrp="1"/>
          </p:cNvSpPr>
          <p:nvPr/>
        </p:nvSpPr>
        <p:spPr>
          <a:xfrm>
            <a:off x="15426214" y="5981700"/>
            <a:ext cx="1985486" cy="3048000"/>
          </a:xfrm>
          <a:prstGeom prst="roundRect">
            <a:avLst>
              <a:gd name="adj" fmla="val 863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946E8BF-F45D-43A2-B556-806AEAC5116C}"/>
              </a:ext>
            </a:extLst>
          </p:cNvPr>
          <p:cNvSpPr>
            <a:spLocks noGrp="1"/>
          </p:cNvSpPr>
          <p:nvPr/>
        </p:nvSpPr>
        <p:spPr>
          <a:xfrm>
            <a:off x="15601950" y="6153150"/>
            <a:ext cx="16383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CFB1"/>
                </a:solidFill>
              </a:defRPr>
            </a:pPr>
            <a:r>
              <a:rPr sz="2100" b="1">
                <a:solidFill>
                  <a:srgbClr val="7CCFB1"/>
                </a:solidFill>
              </a:rPr>
              <a:t>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294F13-F47F-4ED8-BDBB-39D135466B84}"/>
              </a:ext>
            </a:extLst>
          </p:cNvPr>
          <p:cNvSpPr>
            <a:spLocks noGrp="1"/>
          </p:cNvSpPr>
          <p:nvPr/>
        </p:nvSpPr>
        <p:spPr>
          <a:xfrm>
            <a:off x="15601950" y="6496050"/>
            <a:ext cx="7429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7F2E9E-45D6-435F-AB51-F81227E61949}"/>
              </a:ext>
            </a:extLst>
          </p:cNvPr>
          <p:cNvSpPr>
            <a:spLocks noGrp="1"/>
          </p:cNvSpPr>
          <p:nvPr/>
        </p:nvSpPr>
        <p:spPr>
          <a:xfrm>
            <a:off x="15601950" y="6953250"/>
            <a:ext cx="20193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Passed proposals become projects with progress updates.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BA39EB2-0DBE-4A03-83AF-997A58059749}"/>
              </a:ext>
            </a:extLst>
          </p:cNvPr>
          <p:cNvSpPr>
            <a:spLocks noGrp="1"/>
          </p:cNvSpPr>
          <p:nvPr/>
        </p:nvSpPr>
        <p:spPr>
          <a:xfrm>
            <a:off x="666750" y="9486900"/>
            <a:ext cx="14497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6647D5F-46ED-469C-9C5A-00577A11526A}"/>
              </a:ext>
            </a:extLst>
          </p:cNvPr>
          <p:cNvSpPr>
            <a:spLocks noGrp="1"/>
          </p:cNvSpPr>
          <p:nvPr/>
        </p:nvSpPr>
        <p:spPr>
          <a:xfrm>
            <a:off x="15163800" y="948690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91817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4C840CD-3EF9-4E1B-A01B-9E9269F2F253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695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02 |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675164-E037-4509-B2EC-7A58038E44A6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95250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 dirty="0">
                <a:solidFill>
                  <a:srgbClr val="FFFFFF"/>
                </a:solidFill>
              </a:rPr>
              <a:t>A full-stack TypeScript app with a thin client and a rule-heavy backend.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0C954A-BE69-4AE1-8D1E-D669C2C77689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72199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Most trust guarantees live in the API and database layer, not in browser logic.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A4B315F-5A6B-4A41-95F0-649D289B3FF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8343900" cy="6991350"/>
          </a:xfrm>
          <a:prstGeom prst="roundRect">
            <a:avLst>
              <a:gd name="adj" fmla="val 3270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02782F-4102-4329-AA57-D117FF58B188}"/>
              </a:ext>
            </a:extLst>
          </p:cNvPr>
          <p:cNvSpPr>
            <a:spLocks noGrp="1"/>
          </p:cNvSpPr>
          <p:nvPr/>
        </p:nvSpPr>
        <p:spPr>
          <a:xfrm>
            <a:off x="895350" y="2495550"/>
            <a:ext cx="7886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System stack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AC131A0-CE58-4D01-81FC-2AE5C3830E79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7886700" cy="1968500"/>
          </a:xfrm>
          <a:prstGeom prst="roundRect">
            <a:avLst>
              <a:gd name="adj" fmla="val 1064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2C75E0-E7B1-48E4-B450-56E397B138A6}"/>
              </a:ext>
            </a:extLst>
          </p:cNvPr>
          <p:cNvSpPr>
            <a:spLocks noGrp="1"/>
          </p:cNvSpPr>
          <p:nvPr/>
        </p:nvSpPr>
        <p:spPr>
          <a:xfrm>
            <a:off x="1123950" y="3086100"/>
            <a:ext cx="685800" cy="47625"/>
          </a:xfrm>
          <a:prstGeom prst="rect">
            <a:avLst/>
          </a:prstGeom>
          <a:solidFill>
            <a:srgbClr val="F0A500"/>
          </a:solidFill>
          <a:ln w="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15567-E0E6-4248-9CD5-9B536EDF9C91}"/>
              </a:ext>
            </a:extLst>
          </p:cNvPr>
          <p:cNvSpPr>
            <a:spLocks noGrp="1"/>
          </p:cNvSpPr>
          <p:nvPr/>
        </p:nvSpPr>
        <p:spPr>
          <a:xfrm>
            <a:off x="1123950" y="3238500"/>
            <a:ext cx="7429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9AF23-1287-4BCA-B525-ECC0D1AEEDDD}"/>
              </a:ext>
            </a:extLst>
          </p:cNvPr>
          <p:cNvSpPr>
            <a:spLocks noGrp="1"/>
          </p:cNvSpPr>
          <p:nvPr/>
        </p:nvSpPr>
        <p:spPr>
          <a:xfrm>
            <a:off x="1123950" y="3562350"/>
            <a:ext cx="28384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React + TypeScript + Vite + TanStack Query. Handles routing, forms, and views for circles, proposals, and projects.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25D2B64-FAEF-480C-9DC3-7C2E6D920B01}"/>
              </a:ext>
            </a:extLst>
          </p:cNvPr>
          <p:cNvSpPr>
            <a:spLocks noGrp="1"/>
          </p:cNvSpPr>
          <p:nvPr/>
        </p:nvSpPr>
        <p:spPr>
          <a:xfrm>
            <a:off x="895350" y="4959350"/>
            <a:ext cx="7886700" cy="1968500"/>
          </a:xfrm>
          <a:prstGeom prst="roundRect">
            <a:avLst>
              <a:gd name="adj" fmla="val 1064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10BDF-185C-4DF5-839C-4DAAB7BEA606}"/>
              </a:ext>
            </a:extLst>
          </p:cNvPr>
          <p:cNvSpPr>
            <a:spLocks noGrp="1"/>
          </p:cNvSpPr>
          <p:nvPr/>
        </p:nvSpPr>
        <p:spPr>
          <a:xfrm>
            <a:off x="1123950" y="5181600"/>
            <a:ext cx="685800" cy="47625"/>
          </a:xfrm>
          <a:prstGeom prst="rect">
            <a:avLst/>
          </a:prstGeom>
          <a:solidFill>
            <a:srgbClr val="7CCFB1"/>
          </a:solidFill>
          <a:ln w="0">
            <a:solidFill>
              <a:srgbClr val="7CC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9E2B89-499B-4C77-8B74-64B94C0C57A3}"/>
              </a:ext>
            </a:extLst>
          </p:cNvPr>
          <p:cNvSpPr>
            <a:spLocks noGrp="1"/>
          </p:cNvSpPr>
          <p:nvPr/>
        </p:nvSpPr>
        <p:spPr>
          <a:xfrm>
            <a:off x="1123950" y="5334000"/>
            <a:ext cx="7429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E4F4EB-A6F3-47B6-8C66-F0A94D67BABF}"/>
              </a:ext>
            </a:extLst>
          </p:cNvPr>
          <p:cNvSpPr>
            <a:spLocks noGrp="1"/>
          </p:cNvSpPr>
          <p:nvPr/>
        </p:nvSpPr>
        <p:spPr>
          <a:xfrm>
            <a:off x="1123950" y="5657850"/>
            <a:ext cx="29527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Fastify + TypeScript services. Enforces auth, roles, ledger updates, proposal rules, and admin operations.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334A98-C44E-470E-9C85-85F1CB96E892}"/>
              </a:ext>
            </a:extLst>
          </p:cNvPr>
          <p:cNvSpPr>
            <a:spLocks noGrp="1"/>
          </p:cNvSpPr>
          <p:nvPr/>
        </p:nvSpPr>
        <p:spPr>
          <a:xfrm>
            <a:off x="895350" y="7061200"/>
            <a:ext cx="7886700" cy="1968500"/>
          </a:xfrm>
          <a:prstGeom prst="roundRect">
            <a:avLst>
              <a:gd name="adj" fmla="val 10645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C69AB-D0EE-47B1-AC2D-2F77A5A6AE09}"/>
              </a:ext>
            </a:extLst>
          </p:cNvPr>
          <p:cNvSpPr>
            <a:spLocks noGrp="1"/>
          </p:cNvSpPr>
          <p:nvPr/>
        </p:nvSpPr>
        <p:spPr>
          <a:xfrm>
            <a:off x="1123950" y="7296150"/>
            <a:ext cx="685800" cy="47625"/>
          </a:xfrm>
          <a:prstGeom prst="rect">
            <a:avLst/>
          </a:prstGeom>
          <a:solidFill>
            <a:srgbClr val="F6C55B"/>
          </a:solidFill>
          <a:ln w="0">
            <a:solidFill>
              <a:srgbClr val="F6C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A4D808-1A09-4AF8-896B-CBF45E4FC067}"/>
              </a:ext>
            </a:extLst>
          </p:cNvPr>
          <p:cNvSpPr>
            <a:spLocks noGrp="1"/>
          </p:cNvSpPr>
          <p:nvPr/>
        </p:nvSpPr>
        <p:spPr>
          <a:xfrm>
            <a:off x="1123950" y="7429500"/>
            <a:ext cx="74295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20F4F7-B35D-46C5-8BE7-9F6CD3C9C6F0}"/>
              </a:ext>
            </a:extLst>
          </p:cNvPr>
          <p:cNvSpPr>
            <a:spLocks noGrp="1"/>
          </p:cNvSpPr>
          <p:nvPr/>
        </p:nvSpPr>
        <p:spPr>
          <a:xfrm>
            <a:off x="1123950" y="7753350"/>
            <a:ext cx="28765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Prisma + PostgreSQL. Stores users, memberships, contributions, votes, proposals, projects, notifications, and audit logs.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2A7F5F7-14B8-444A-9465-C237568A6260}"/>
              </a:ext>
            </a:extLst>
          </p:cNvPr>
          <p:cNvSpPr>
            <a:spLocks noGrp="1"/>
          </p:cNvSpPr>
          <p:nvPr/>
        </p:nvSpPr>
        <p:spPr>
          <a:xfrm>
            <a:off x="9277350" y="2266950"/>
            <a:ext cx="8343900" cy="2990850"/>
          </a:xfrm>
          <a:prstGeom prst="roundRect">
            <a:avLst>
              <a:gd name="adj" fmla="val 7643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97A315-CF77-4F08-82D1-DA9BACD5B276}"/>
              </a:ext>
            </a:extLst>
          </p:cNvPr>
          <p:cNvSpPr>
            <a:spLocks noGrp="1"/>
          </p:cNvSpPr>
          <p:nvPr/>
        </p:nvSpPr>
        <p:spPr>
          <a:xfrm>
            <a:off x="9525000" y="251460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Auth + trust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7528EB-0DF8-4044-A66D-AD06B6375F7C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47053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 dirty="0">
                <a:solidFill>
                  <a:srgbClr val="B8E6D3"/>
                </a:solidFill>
              </a:rPr>
              <a:t>• JWT access tokens (15 min) + rotating refresh tokens (30 days).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1D5408-3B6E-438E-BAB5-CCC26F880FCF}"/>
              </a:ext>
            </a:extLst>
          </p:cNvPr>
          <p:cNvSpPr>
            <a:spLocks noGrp="1"/>
          </p:cNvSpPr>
          <p:nvPr/>
        </p:nvSpPr>
        <p:spPr>
          <a:xfrm>
            <a:off x="9525000" y="3333750"/>
            <a:ext cx="46101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Email verification gate before onboarding and protected app usage.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1C4BCA-0C6D-4FF3-BC54-E40507C4ADEB}"/>
              </a:ext>
            </a:extLst>
          </p:cNvPr>
          <p:cNvSpPr>
            <a:spLocks noGrp="1"/>
          </p:cNvSpPr>
          <p:nvPr/>
        </p:nvSpPr>
        <p:spPr>
          <a:xfrm>
            <a:off x="9525000" y="3810000"/>
            <a:ext cx="4914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Optional TOTP step-up paths for sensitive account actions.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4335BB-65F0-45C3-BC55-0486A0E94770}"/>
              </a:ext>
            </a:extLst>
          </p:cNvPr>
          <p:cNvSpPr>
            <a:spLocks noGrp="1"/>
          </p:cNvSpPr>
          <p:nvPr/>
        </p:nvSpPr>
        <p:spPr>
          <a:xfrm>
            <a:off x="9525000" y="4114800"/>
            <a:ext cx="49149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Audit logs and notifications track major governance events.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0EAFEE3-4240-473E-8FB8-829ACFB3710F}"/>
              </a:ext>
            </a:extLst>
          </p:cNvPr>
          <p:cNvSpPr>
            <a:spLocks noGrp="1"/>
          </p:cNvSpPr>
          <p:nvPr/>
        </p:nvSpPr>
        <p:spPr>
          <a:xfrm>
            <a:off x="9277350" y="5429250"/>
            <a:ext cx="8343900" cy="3829050"/>
          </a:xfrm>
          <a:prstGeom prst="roundRect">
            <a:avLst>
              <a:gd name="adj" fmla="val 5970"/>
            </a:avLst>
          </a:prstGeom>
          <a:solidFill>
            <a:srgbClr val="0C1F31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F88A9D-7F1F-4772-B711-69D940026DBF}"/>
              </a:ext>
            </a:extLst>
          </p:cNvPr>
          <p:cNvSpPr>
            <a:spLocks noGrp="1"/>
          </p:cNvSpPr>
          <p:nvPr/>
        </p:nvSpPr>
        <p:spPr>
          <a:xfrm>
            <a:off x="9525000" y="5676900"/>
            <a:ext cx="7848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6C55B"/>
                </a:solidFill>
              </a:defRPr>
            </a:pPr>
            <a:r>
              <a:rPr sz="1800" b="1">
                <a:solidFill>
                  <a:srgbClr val="F6C55B"/>
                </a:solidFill>
              </a:rPr>
              <a:t>Why the backend matters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28E529F-2C05-478E-B40C-1EDBF8868610}"/>
              </a:ext>
            </a:extLst>
          </p:cNvPr>
          <p:cNvSpPr>
            <a:spLocks noGrp="1"/>
          </p:cNvSpPr>
          <p:nvPr/>
        </p:nvSpPr>
        <p:spPr>
          <a:xfrm>
            <a:off x="9525000" y="6038850"/>
            <a:ext cx="4552950" cy="742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UI can request actions, but it does not decide whether they are valid.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5E7561-B240-40B0-BBC8-39D355D78C96}"/>
              </a:ext>
            </a:extLst>
          </p:cNvPr>
          <p:cNvSpPr>
            <a:spLocks noGrp="1"/>
          </p:cNvSpPr>
          <p:nvPr/>
        </p:nvSpPr>
        <p:spPr>
          <a:xfrm>
            <a:off x="9525000" y="6915150"/>
            <a:ext cx="48387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Circle membership and role checks happen in services before every protected action.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BF4407D-66F9-4761-B2F8-ADEC71F1AC19}"/>
              </a:ext>
            </a:extLst>
          </p:cNvPr>
          <p:cNvSpPr>
            <a:spLocks noGrp="1"/>
          </p:cNvSpPr>
          <p:nvPr/>
        </p:nvSpPr>
        <p:spPr>
          <a:xfrm>
            <a:off x="9525000" y="7391400"/>
            <a:ext cx="48006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Contribution verification writes to an append-style ledger and updates treasury balance.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036866-2225-4BFD-8C08-F1EE57D4B7B8}"/>
              </a:ext>
            </a:extLst>
          </p:cNvPr>
          <p:cNvSpPr>
            <a:spLocks noGrp="1"/>
          </p:cNvSpPr>
          <p:nvPr/>
        </p:nvSpPr>
        <p:spPr>
          <a:xfrm>
            <a:off x="9525000" y="7867650"/>
            <a:ext cx="48958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Proposal closing calculates quorum and approval percentages on the server.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230EAE-6E37-46AC-8D0F-472DF3040D01}"/>
              </a:ext>
            </a:extLst>
          </p:cNvPr>
          <p:cNvSpPr>
            <a:spLocks noGrp="1"/>
          </p:cNvSpPr>
          <p:nvPr/>
        </p:nvSpPr>
        <p:spPr>
          <a:xfrm>
            <a:off x="9525000" y="8343900"/>
            <a:ext cx="49339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Project funding only starts if the treasury can cover the budget.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9D980-D4FE-4421-A2BB-E576DE144753}"/>
              </a:ext>
            </a:extLst>
          </p:cNvPr>
          <p:cNvSpPr>
            <a:spLocks noGrp="1"/>
          </p:cNvSpPr>
          <p:nvPr/>
        </p:nvSpPr>
        <p:spPr>
          <a:xfrm>
            <a:off x="666750" y="9486900"/>
            <a:ext cx="14497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A6543C-6136-403F-9911-C49AE14F95A9}"/>
              </a:ext>
            </a:extLst>
          </p:cNvPr>
          <p:cNvSpPr>
            <a:spLocks noGrp="1"/>
          </p:cNvSpPr>
          <p:nvPr/>
        </p:nvSpPr>
        <p:spPr>
          <a:xfrm>
            <a:off x="15163800" y="948690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378027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C4F07C37-67AA-4383-82F2-7D41D087EEA6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695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03 | Core User 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3EB023-E21F-4BF0-856A-B6AC951FD665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103251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From signup to funded project, the app follows a clear governance pipeline.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C44593-C4C7-408A-93B2-E0C6BC5B6BCD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52578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This is the same path we will show during the live demo.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40260C-6545-49FB-BFC6-92239148A3CD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6954500" cy="2762250"/>
          </a:xfrm>
          <a:prstGeom prst="roundRect">
            <a:avLst>
              <a:gd name="adj" fmla="val 8276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3EE47FA-75EC-447A-A8DF-44E81B809C10}"/>
              </a:ext>
            </a:extLst>
          </p:cNvPr>
          <p:cNvSpPr>
            <a:spLocks noGrp="1"/>
          </p:cNvSpPr>
          <p:nvPr/>
        </p:nvSpPr>
        <p:spPr>
          <a:xfrm>
            <a:off x="895350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765B3C-8BB5-485F-9F7A-9A00984966F3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6C55B"/>
                </a:solidFill>
              </a:defRPr>
            </a:pPr>
            <a:r>
              <a:rPr sz="2100" b="1">
                <a:solidFill>
                  <a:srgbClr val="F6C55B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E900C5-63E7-49F8-BB77-6F7CFCC56C0A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6286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Signup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600435-C27A-43F2-B4BA-F3A297156A55}"/>
              </a:ext>
            </a:extLst>
          </p:cNvPr>
          <p:cNvSpPr>
            <a:spLocks noGrp="1"/>
          </p:cNvSpPr>
          <p:nvPr/>
        </p:nvSpPr>
        <p:spPr>
          <a:xfrm>
            <a:off x="1066800" y="3486150"/>
            <a:ext cx="17526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Create account and receive access + refresh token pair.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FE64FA-1630-4C26-B32D-AD0924700E26}"/>
              </a:ext>
            </a:extLst>
          </p:cNvPr>
          <p:cNvSpPr>
            <a:spLocks noGrp="1"/>
          </p:cNvSpPr>
          <p:nvPr/>
        </p:nvSpPr>
        <p:spPr>
          <a:xfrm>
            <a:off x="3660775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FBD367-0128-4DF0-BD96-3A2A7B688F6D}"/>
              </a:ext>
            </a:extLst>
          </p:cNvPr>
          <p:cNvSpPr>
            <a:spLocks noGrp="1"/>
          </p:cNvSpPr>
          <p:nvPr/>
        </p:nvSpPr>
        <p:spPr>
          <a:xfrm>
            <a:off x="382905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CFB1"/>
                </a:solidFill>
              </a:defRPr>
            </a:pPr>
            <a:r>
              <a:rPr sz="2100" b="1">
                <a:solidFill>
                  <a:srgbClr val="7CCFB1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E3E79-9F43-4E1A-8A5B-9E493200EC32}"/>
              </a:ext>
            </a:extLst>
          </p:cNvPr>
          <p:cNvSpPr>
            <a:spLocks noGrp="1"/>
          </p:cNvSpPr>
          <p:nvPr/>
        </p:nvSpPr>
        <p:spPr>
          <a:xfrm>
            <a:off x="3829050" y="3219450"/>
            <a:ext cx="4953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3F1666-4F9F-42E5-BF94-63340C2A141F}"/>
              </a:ext>
            </a:extLst>
          </p:cNvPr>
          <p:cNvSpPr>
            <a:spLocks noGrp="1"/>
          </p:cNvSpPr>
          <p:nvPr/>
        </p:nvSpPr>
        <p:spPr>
          <a:xfrm>
            <a:off x="3829050" y="3486150"/>
            <a:ext cx="20955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Confirm email before onboarding and protected flows.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DB3F695-D985-495A-B714-196DC4CE46B8}"/>
              </a:ext>
            </a:extLst>
          </p:cNvPr>
          <p:cNvSpPr>
            <a:spLocks noGrp="1"/>
          </p:cNvSpPr>
          <p:nvPr/>
        </p:nvSpPr>
        <p:spPr>
          <a:xfrm>
            <a:off x="6426200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A88C85-EBE1-437C-B0AC-3C97DCDE55B5}"/>
              </a:ext>
            </a:extLst>
          </p:cNvPr>
          <p:cNvSpPr>
            <a:spLocks noGrp="1"/>
          </p:cNvSpPr>
          <p:nvPr/>
        </p:nvSpPr>
        <p:spPr>
          <a:xfrm>
            <a:off x="659130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6C55B"/>
                </a:solidFill>
              </a:defRPr>
            </a:pPr>
            <a:r>
              <a:rPr sz="2100" b="1">
                <a:solidFill>
                  <a:srgbClr val="F6C55B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3D86C7-D6EB-4BB1-9A51-8E2E83C6CA9E}"/>
              </a:ext>
            </a:extLst>
          </p:cNvPr>
          <p:cNvSpPr>
            <a:spLocks noGrp="1"/>
          </p:cNvSpPr>
          <p:nvPr/>
        </p:nvSpPr>
        <p:spPr>
          <a:xfrm>
            <a:off x="6591300" y="3219450"/>
            <a:ext cx="7810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Onboard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17EE3C-0CA7-44AB-8690-4C6122333E00}"/>
              </a:ext>
            </a:extLst>
          </p:cNvPr>
          <p:cNvSpPr>
            <a:spLocks noGrp="1"/>
          </p:cNvSpPr>
          <p:nvPr/>
        </p:nvSpPr>
        <p:spPr>
          <a:xfrm>
            <a:off x="6591300" y="3676650"/>
            <a:ext cx="1885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Choose sector + residence to personalize the app.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232097F-3801-4854-BAA9-1AD9800F734C}"/>
              </a:ext>
            </a:extLst>
          </p:cNvPr>
          <p:cNvSpPr>
            <a:spLocks noGrp="1"/>
          </p:cNvSpPr>
          <p:nvPr/>
        </p:nvSpPr>
        <p:spPr>
          <a:xfrm>
            <a:off x="9191625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543A75-77B2-4040-9711-E2101D5DFDBB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CFB1"/>
                </a:solidFill>
              </a:defRPr>
            </a:pPr>
            <a:r>
              <a:rPr sz="2100" b="1">
                <a:solidFill>
                  <a:srgbClr val="7CCFB1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FE6F2E-5266-472D-A9A3-1BC37D40FCDD}"/>
              </a:ext>
            </a:extLst>
          </p:cNvPr>
          <p:cNvSpPr>
            <a:spLocks noGrp="1"/>
          </p:cNvSpPr>
          <p:nvPr/>
        </p:nvSpPr>
        <p:spPr>
          <a:xfrm>
            <a:off x="9372600" y="3219450"/>
            <a:ext cx="12954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Join or Create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AF6A8C-DB2F-4C50-9E38-98BAFF1AEE65}"/>
              </a:ext>
            </a:extLst>
          </p:cNvPr>
          <p:cNvSpPr>
            <a:spLocks noGrp="1"/>
          </p:cNvSpPr>
          <p:nvPr/>
        </p:nvSpPr>
        <p:spPr>
          <a:xfrm>
            <a:off x="9372600" y="3486150"/>
            <a:ext cx="21526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Enter a circle via invite or create a new one.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1F572E3-D806-4EC0-99F1-486A6BFD769D}"/>
              </a:ext>
            </a:extLst>
          </p:cNvPr>
          <p:cNvSpPr>
            <a:spLocks noGrp="1"/>
          </p:cNvSpPr>
          <p:nvPr/>
        </p:nvSpPr>
        <p:spPr>
          <a:xfrm>
            <a:off x="11957050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CABACD2-563B-44BA-8243-6270C2C6D875}"/>
              </a:ext>
            </a:extLst>
          </p:cNvPr>
          <p:cNvSpPr>
            <a:spLocks noGrp="1"/>
          </p:cNvSpPr>
          <p:nvPr/>
        </p:nvSpPr>
        <p:spPr>
          <a:xfrm>
            <a:off x="1213485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F6C55B"/>
                </a:solidFill>
              </a:defRPr>
            </a:pPr>
            <a:r>
              <a:rPr sz="2100" b="1">
                <a:solidFill>
                  <a:srgbClr val="F6C55B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9433EB-9662-4BF2-A23E-3C88EFC3F2E3}"/>
              </a:ext>
            </a:extLst>
          </p:cNvPr>
          <p:cNvSpPr>
            <a:spLocks noGrp="1"/>
          </p:cNvSpPr>
          <p:nvPr/>
        </p:nvSpPr>
        <p:spPr>
          <a:xfrm>
            <a:off x="12134850" y="3219450"/>
            <a:ext cx="15811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Contribute + Vote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52F3EF-1BE5-4703-9F8C-8D7B5703EEB7}"/>
              </a:ext>
            </a:extLst>
          </p:cNvPr>
          <p:cNvSpPr>
            <a:spLocks noGrp="1"/>
          </p:cNvSpPr>
          <p:nvPr/>
        </p:nvSpPr>
        <p:spPr>
          <a:xfrm>
            <a:off x="12134850" y="3486150"/>
            <a:ext cx="2057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Submit funds, review proposals, and cast votes.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084A395-42F3-40C7-A228-578D8C25850F}"/>
              </a:ext>
            </a:extLst>
          </p:cNvPr>
          <p:cNvSpPr>
            <a:spLocks noGrp="1"/>
          </p:cNvSpPr>
          <p:nvPr/>
        </p:nvSpPr>
        <p:spPr>
          <a:xfrm>
            <a:off x="14722475" y="2705100"/>
            <a:ext cx="2670175" cy="2305050"/>
          </a:xfrm>
          <a:prstGeom prst="roundRect">
            <a:avLst>
              <a:gd name="adj" fmla="val 743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1AD01D-B0EF-4E27-BDDE-181B2A25B2D8}"/>
              </a:ext>
            </a:extLst>
          </p:cNvPr>
          <p:cNvSpPr>
            <a:spLocks noGrp="1"/>
          </p:cNvSpPr>
          <p:nvPr/>
        </p:nvSpPr>
        <p:spPr>
          <a:xfrm>
            <a:off x="14897100" y="2876550"/>
            <a:ext cx="2324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7CCFB1"/>
                </a:solidFill>
              </a:defRPr>
            </a:pPr>
            <a:r>
              <a:rPr sz="2100" b="1">
                <a:solidFill>
                  <a:srgbClr val="7CCFB1"/>
                </a:solidFill>
              </a:rPr>
              <a:t>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25DFA3-E43D-4B42-B4CB-774E9CC9280E}"/>
              </a:ext>
            </a:extLst>
          </p:cNvPr>
          <p:cNvSpPr>
            <a:spLocks noGrp="1"/>
          </p:cNvSpPr>
          <p:nvPr/>
        </p:nvSpPr>
        <p:spPr>
          <a:xfrm>
            <a:off x="14897100" y="3219450"/>
            <a:ext cx="148590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Project Tracking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63AC7E-FFDA-4D1D-8069-ACF8A7B9A863}"/>
              </a:ext>
            </a:extLst>
          </p:cNvPr>
          <p:cNvSpPr>
            <a:spLocks noGrp="1"/>
          </p:cNvSpPr>
          <p:nvPr/>
        </p:nvSpPr>
        <p:spPr>
          <a:xfrm>
            <a:off x="14897100" y="3676650"/>
            <a:ext cx="2076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A7B4C1"/>
                </a:solidFill>
              </a:defRPr>
            </a:pPr>
            <a:r>
              <a:rPr sz="1125">
                <a:solidFill>
                  <a:srgbClr val="A7B4C1"/>
                </a:solidFill>
              </a:rPr>
              <a:t>Watch approved work move into execution and updates.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092F777-3528-4B97-B02F-581D49F74C29}"/>
              </a:ext>
            </a:extLst>
          </p:cNvPr>
          <p:cNvSpPr>
            <a:spLocks noGrp="1"/>
          </p:cNvSpPr>
          <p:nvPr/>
        </p:nvSpPr>
        <p:spPr>
          <a:xfrm>
            <a:off x="666750" y="5467350"/>
            <a:ext cx="8372475" cy="3790950"/>
          </a:xfrm>
          <a:prstGeom prst="roundRect">
            <a:avLst>
              <a:gd name="adj" fmla="val 5528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6DCE6-BFA8-43B8-B807-39E153AE238A}"/>
              </a:ext>
            </a:extLst>
          </p:cNvPr>
          <p:cNvSpPr>
            <a:spLocks noGrp="1"/>
          </p:cNvSpPr>
          <p:nvPr/>
        </p:nvSpPr>
        <p:spPr>
          <a:xfrm>
            <a:off x="895350" y="56959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User-facing moments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38C9B0-4397-4946-A874-E4559782E433}"/>
              </a:ext>
            </a:extLst>
          </p:cNvPr>
          <p:cNvSpPr>
            <a:spLocks noGrp="1"/>
          </p:cNvSpPr>
          <p:nvPr/>
        </p:nvSpPr>
        <p:spPr>
          <a:xfrm>
            <a:off x="895350" y="6038850"/>
            <a:ext cx="4953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63A5F"/>
                </a:solidFill>
              </a:defRPr>
            </a:pPr>
            <a:r>
              <a:rPr sz="1350">
                <a:solidFill>
                  <a:srgbClr val="163A5F"/>
                </a:solidFill>
              </a:rPr>
              <a:t>• Dashboard summarizes circles, pending contributions, unvoted proposals, and recent activity.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648F52-2197-4456-879E-342A5788D6BA}"/>
              </a:ext>
            </a:extLst>
          </p:cNvPr>
          <p:cNvSpPr>
            <a:spLocks noGrp="1"/>
          </p:cNvSpPr>
          <p:nvPr/>
        </p:nvSpPr>
        <p:spPr>
          <a:xfrm>
            <a:off x="895350" y="6496050"/>
            <a:ext cx="45720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63A5F"/>
                </a:solidFill>
              </a:defRPr>
            </a:pPr>
            <a:r>
              <a:rPr sz="1350">
                <a:solidFill>
                  <a:srgbClr val="163A5F"/>
                </a:solidFill>
              </a:rPr>
              <a:t>• Explore page exposes public circles and invite-code entry.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3B2251-48B1-440A-BF90-B0366012ACA2}"/>
              </a:ext>
            </a:extLst>
          </p:cNvPr>
          <p:cNvSpPr>
            <a:spLocks noGrp="1"/>
          </p:cNvSpPr>
          <p:nvPr/>
        </p:nvSpPr>
        <p:spPr>
          <a:xfrm>
            <a:off x="895350" y="6953250"/>
            <a:ext cx="47625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63A5F"/>
                </a:solidFill>
              </a:defRPr>
            </a:pPr>
            <a:r>
              <a:rPr sz="1350">
                <a:solidFill>
                  <a:srgbClr val="163A5F"/>
                </a:solidFill>
              </a:rPr>
              <a:t>• Circle detail page becomes the operational hub for members and admins.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2477FA-273E-4BDC-BF9A-8105E255F711}"/>
              </a:ext>
            </a:extLst>
          </p:cNvPr>
          <p:cNvSpPr>
            <a:spLocks noGrp="1"/>
          </p:cNvSpPr>
          <p:nvPr/>
        </p:nvSpPr>
        <p:spPr>
          <a:xfrm>
            <a:off x="895350" y="7410450"/>
            <a:ext cx="468630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63A5F"/>
                </a:solidFill>
              </a:defRPr>
            </a:pPr>
            <a:r>
              <a:rPr sz="1350">
                <a:solidFill>
                  <a:srgbClr val="163A5F"/>
                </a:solidFill>
              </a:rPr>
              <a:t>• Portfolio and admin pages extend visibility beyond the main circle workflow.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4BBADCF-3576-4A51-B631-11050EDE4FC1}"/>
              </a:ext>
            </a:extLst>
          </p:cNvPr>
          <p:cNvSpPr>
            <a:spLocks noGrp="1"/>
          </p:cNvSpPr>
          <p:nvPr/>
        </p:nvSpPr>
        <p:spPr>
          <a:xfrm>
            <a:off x="9248775" y="5467350"/>
            <a:ext cx="8372475" cy="3790950"/>
          </a:xfrm>
          <a:prstGeom prst="roundRect">
            <a:avLst>
              <a:gd name="adj" fmla="val 5528"/>
            </a:avLst>
          </a:prstGeom>
          <a:solidFill>
            <a:srgbClr val="0C1F31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5E8BAFF-2B23-4B5F-A5E9-A3B8389FF07C}"/>
              </a:ext>
            </a:extLst>
          </p:cNvPr>
          <p:cNvSpPr>
            <a:spLocks noGrp="1"/>
          </p:cNvSpPr>
          <p:nvPr/>
        </p:nvSpPr>
        <p:spPr>
          <a:xfrm>
            <a:off x="9486900" y="5695950"/>
            <a:ext cx="7924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6C55B"/>
                </a:solidFill>
              </a:defRPr>
            </a:pPr>
            <a:r>
              <a:rPr sz="1800" b="1">
                <a:solidFill>
                  <a:srgbClr val="F6C55B"/>
                </a:solidFill>
              </a:rPr>
              <a:t>Server-enforced checks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08A449-E8D5-4419-B840-7A94EA791F2F}"/>
              </a:ext>
            </a:extLst>
          </p:cNvPr>
          <p:cNvSpPr>
            <a:spLocks noGrp="1"/>
          </p:cNvSpPr>
          <p:nvPr/>
        </p:nvSpPr>
        <p:spPr>
          <a:xfrm>
            <a:off x="9486900" y="6038850"/>
            <a:ext cx="44386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Only verified accounts can move past onboarding gates.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07A7E3-7BE2-4A96-AB3E-BBAC059E077C}"/>
              </a:ext>
            </a:extLst>
          </p:cNvPr>
          <p:cNvSpPr>
            <a:spLocks noGrp="1"/>
          </p:cNvSpPr>
          <p:nvPr/>
        </p:nvSpPr>
        <p:spPr>
          <a:xfrm>
            <a:off x="9486900" y="6324600"/>
            <a:ext cx="47434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Only members can access circle resources; only admins can verify contributions or change roles.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C39AEAE-9516-4AF7-BD72-62C9D75B45EA}"/>
              </a:ext>
            </a:extLst>
          </p:cNvPr>
          <p:cNvSpPr>
            <a:spLocks noGrp="1"/>
          </p:cNvSpPr>
          <p:nvPr/>
        </p:nvSpPr>
        <p:spPr>
          <a:xfrm>
            <a:off x="9486900" y="6781800"/>
            <a:ext cx="4629150" cy="342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Voting, proposal closing, and project funding all depend on stored governance rules and treasury state.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33ADCC-397E-4F2E-A4E7-9C4E0C6E3719}"/>
              </a:ext>
            </a:extLst>
          </p:cNvPr>
          <p:cNvSpPr>
            <a:spLocks noGrp="1"/>
          </p:cNvSpPr>
          <p:nvPr/>
        </p:nvSpPr>
        <p:spPr>
          <a:xfrm>
            <a:off x="9486900" y="7239000"/>
            <a:ext cx="4743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A7B4C1"/>
                </a:solidFill>
              </a:defRPr>
            </a:pPr>
            <a:r>
              <a:rPr sz="1350">
                <a:solidFill>
                  <a:srgbClr val="A7B4C1"/>
                </a:solidFill>
              </a:rPr>
              <a:t>• Notifications and audit logs record each important transition.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DDCFCB-45EA-4F29-9FFF-AD053A0312ED}"/>
              </a:ext>
            </a:extLst>
          </p:cNvPr>
          <p:cNvSpPr>
            <a:spLocks noGrp="1"/>
          </p:cNvSpPr>
          <p:nvPr/>
        </p:nvSpPr>
        <p:spPr>
          <a:xfrm>
            <a:off x="666750" y="9486900"/>
            <a:ext cx="14497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743B2BC-59F4-44FD-90FE-395677DF5558}"/>
              </a:ext>
            </a:extLst>
          </p:cNvPr>
          <p:cNvSpPr>
            <a:spLocks noGrp="1"/>
          </p:cNvSpPr>
          <p:nvPr/>
        </p:nvSpPr>
        <p:spPr>
          <a:xfrm>
            <a:off x="15163800" y="948690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208289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6AD220F-09EC-495E-84F7-13D668AFE15A}"/>
              </a:ext>
            </a:extLst>
          </p:cNvPr>
          <p:cNvSpPr>
            <a:spLocks noGrp="1"/>
          </p:cNvSpPr>
          <p:nvPr/>
        </p:nvSpPr>
        <p:spPr>
          <a:xfrm>
            <a:off x="647700" y="647700"/>
            <a:ext cx="169926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04 | Main Features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C0F309-8571-43B8-A698-F4A64BBC2C0B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11442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MVP already covers the full governance cycle, not just isolated screens.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8EC666-74D5-4A8D-82BB-8F6CBB857D96}"/>
              </a:ext>
            </a:extLst>
          </p:cNvPr>
          <p:cNvSpPr>
            <a:spLocks noGrp="1"/>
          </p:cNvSpPr>
          <p:nvPr/>
        </p:nvSpPr>
        <p:spPr>
          <a:xfrm>
            <a:off x="647700" y="1809750"/>
            <a:ext cx="5010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Each feature supports trust, traceability, or execution.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887EFD-21D9-4439-9F96-814AE44F0745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59793D-CE77-4EE7-9645-12222902C92B}"/>
              </a:ext>
            </a:extLst>
          </p:cNvPr>
          <p:cNvSpPr>
            <a:spLocks noGrp="1"/>
          </p:cNvSpPr>
          <p:nvPr/>
        </p:nvSpPr>
        <p:spPr>
          <a:xfrm>
            <a:off x="857250" y="24384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5FCF6B-A82A-4706-BEA8-ADFA7DCA121D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9431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Circle management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BD4ACE-EB6F-4E63-B0DC-B09051BA6EAF}"/>
              </a:ext>
            </a:extLst>
          </p:cNvPr>
          <p:cNvSpPr>
            <a:spLocks noGrp="1"/>
          </p:cNvSpPr>
          <p:nvPr/>
        </p:nvSpPr>
        <p:spPr>
          <a:xfrm>
            <a:off x="857250" y="3219450"/>
            <a:ext cx="1028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Create circles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77179-0E3C-4DEC-84F7-E0C1458BA880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18288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Manage members + roles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C9340A-EA5A-4F70-8637-88D686483964}"/>
              </a:ext>
            </a:extLst>
          </p:cNvPr>
          <p:cNvSpPr>
            <a:spLocks noGrp="1"/>
          </p:cNvSpPr>
          <p:nvPr/>
        </p:nvSpPr>
        <p:spPr>
          <a:xfrm>
            <a:off x="6369050" y="22288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71F655-15A1-4168-91CD-22ABA83ED5E1}"/>
              </a:ext>
            </a:extLst>
          </p:cNvPr>
          <p:cNvSpPr>
            <a:spLocks noGrp="1"/>
          </p:cNvSpPr>
          <p:nvPr/>
        </p:nvSpPr>
        <p:spPr>
          <a:xfrm>
            <a:off x="6572250" y="24384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7CCFB1"/>
                </a:solidFill>
              </a:defRPr>
            </a:pPr>
            <a:r>
              <a:rPr sz="1350" b="1">
                <a:solidFill>
                  <a:srgbClr val="7CCFB1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0DA507-DE09-4230-A1A1-36011EDA6876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1524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Invite + explore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FDFFA9-AA08-4C83-8FBA-B317B04EF1B6}"/>
              </a:ext>
            </a:extLst>
          </p:cNvPr>
          <p:cNvSpPr>
            <a:spLocks noGrp="1"/>
          </p:cNvSpPr>
          <p:nvPr/>
        </p:nvSpPr>
        <p:spPr>
          <a:xfrm>
            <a:off x="6572250" y="3009900"/>
            <a:ext cx="15621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Public circle directory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2BFA2F-3495-4663-BCBE-F8D078A1A241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13716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Join by invite code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2ABD84-1EDD-4DAF-8E2C-D68EA8E0918A}"/>
              </a:ext>
            </a:extLst>
          </p:cNvPr>
          <p:cNvSpPr>
            <a:spLocks noGrp="1"/>
          </p:cNvSpPr>
          <p:nvPr/>
        </p:nvSpPr>
        <p:spPr>
          <a:xfrm>
            <a:off x="12090400" y="22288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314C0E-256C-48A9-BF04-9A845B656354}"/>
              </a:ext>
            </a:extLst>
          </p:cNvPr>
          <p:cNvSpPr>
            <a:spLocks noGrp="1"/>
          </p:cNvSpPr>
          <p:nvPr/>
        </p:nvSpPr>
        <p:spPr>
          <a:xfrm>
            <a:off x="12306300" y="24384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A6BF5A-ACB2-4A56-AFD8-67EDD72E9E4D}"/>
              </a:ext>
            </a:extLst>
          </p:cNvPr>
          <p:cNvSpPr>
            <a:spLocks noGrp="1"/>
          </p:cNvSpPr>
          <p:nvPr/>
        </p:nvSpPr>
        <p:spPr>
          <a:xfrm>
            <a:off x="12306300" y="2705100"/>
            <a:ext cx="222885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Contribution workflow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04FAFF-2484-46B6-A3ED-2B6F38124678}"/>
              </a:ext>
            </a:extLst>
          </p:cNvPr>
          <p:cNvSpPr>
            <a:spLocks noGrp="1"/>
          </p:cNvSpPr>
          <p:nvPr/>
        </p:nvSpPr>
        <p:spPr>
          <a:xfrm>
            <a:off x="12306300" y="3219450"/>
            <a:ext cx="12954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Submit payments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7EC27D-D38C-47C2-A065-5D5C8B5D53A8}"/>
              </a:ext>
            </a:extLst>
          </p:cNvPr>
          <p:cNvSpPr>
            <a:spLocks noGrp="1"/>
          </p:cNvSpPr>
          <p:nvPr/>
        </p:nvSpPr>
        <p:spPr>
          <a:xfrm>
            <a:off x="12306300" y="3467100"/>
            <a:ext cx="16383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Attach proof and verify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CB7C6B5-FC90-4081-844B-18A6ADEBD345}"/>
              </a:ext>
            </a:extLst>
          </p:cNvPr>
          <p:cNvSpPr>
            <a:spLocks noGrp="1"/>
          </p:cNvSpPr>
          <p:nvPr/>
        </p:nvSpPr>
        <p:spPr>
          <a:xfrm>
            <a:off x="647700" y="57721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175B3A-9626-448F-9EEE-93C259311AB3}"/>
              </a:ext>
            </a:extLst>
          </p:cNvPr>
          <p:cNvSpPr>
            <a:spLocks noGrp="1"/>
          </p:cNvSpPr>
          <p:nvPr/>
        </p:nvSpPr>
        <p:spPr>
          <a:xfrm>
            <a:off x="857250" y="59817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7CCFB1"/>
                </a:solidFill>
              </a:defRPr>
            </a:pPr>
            <a:r>
              <a:rPr sz="1350" b="1">
                <a:solidFill>
                  <a:srgbClr val="7CCFB1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A6FFEB-6AD9-44DD-AF51-E73B1634814F}"/>
              </a:ext>
            </a:extLst>
          </p:cNvPr>
          <p:cNvSpPr>
            <a:spLocks noGrp="1"/>
          </p:cNvSpPr>
          <p:nvPr/>
        </p:nvSpPr>
        <p:spPr>
          <a:xfrm>
            <a:off x="857250" y="6248400"/>
            <a:ext cx="21336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Proposal governance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BCA504-5923-4ACB-B54C-2FEC0BCB0AA7}"/>
              </a:ext>
            </a:extLst>
          </p:cNvPr>
          <p:cNvSpPr>
            <a:spLocks noGrp="1"/>
          </p:cNvSpPr>
          <p:nvPr/>
        </p:nvSpPr>
        <p:spPr>
          <a:xfrm>
            <a:off x="857250" y="6762750"/>
            <a:ext cx="12573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Create proposals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331BF4-8271-40C0-91ED-C167C6005618}"/>
              </a:ext>
            </a:extLst>
          </p:cNvPr>
          <p:cNvSpPr>
            <a:spLocks noGrp="1"/>
          </p:cNvSpPr>
          <p:nvPr/>
        </p:nvSpPr>
        <p:spPr>
          <a:xfrm>
            <a:off x="857250" y="7162800"/>
            <a:ext cx="16764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Vote and close by rules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EE2F7D6-6DB4-4251-91A6-105678D6E4E7}"/>
              </a:ext>
            </a:extLst>
          </p:cNvPr>
          <p:cNvSpPr>
            <a:spLocks noGrp="1"/>
          </p:cNvSpPr>
          <p:nvPr/>
        </p:nvSpPr>
        <p:spPr>
          <a:xfrm>
            <a:off x="6369050" y="57721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668B95-53F3-4CAD-87E9-57FA256C61A0}"/>
              </a:ext>
            </a:extLst>
          </p:cNvPr>
          <p:cNvSpPr>
            <a:spLocks noGrp="1"/>
          </p:cNvSpPr>
          <p:nvPr/>
        </p:nvSpPr>
        <p:spPr>
          <a:xfrm>
            <a:off x="6572250" y="59817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D22D2F-2701-48F8-9F00-BAAAC5BBB19C}"/>
              </a:ext>
            </a:extLst>
          </p:cNvPr>
          <p:cNvSpPr>
            <a:spLocks noGrp="1"/>
          </p:cNvSpPr>
          <p:nvPr/>
        </p:nvSpPr>
        <p:spPr>
          <a:xfrm>
            <a:off x="6572250" y="6248400"/>
            <a:ext cx="17526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Project execution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F5241C-E386-4DF6-B74E-4FDA3C33EC49}"/>
              </a:ext>
            </a:extLst>
          </p:cNvPr>
          <p:cNvSpPr>
            <a:spLocks noGrp="1"/>
          </p:cNvSpPr>
          <p:nvPr/>
        </p:nvSpPr>
        <p:spPr>
          <a:xfrm>
            <a:off x="6572250" y="6553200"/>
            <a:ext cx="1657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Create funded projects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017F2A-4759-4FC2-9391-057D79D56DC7}"/>
              </a:ext>
            </a:extLst>
          </p:cNvPr>
          <p:cNvSpPr>
            <a:spLocks noGrp="1"/>
          </p:cNvSpPr>
          <p:nvPr/>
        </p:nvSpPr>
        <p:spPr>
          <a:xfrm>
            <a:off x="6572250" y="6953250"/>
            <a:ext cx="17145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Post execution updates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98AF9E3-A035-4169-AC5B-C7D775899196}"/>
              </a:ext>
            </a:extLst>
          </p:cNvPr>
          <p:cNvSpPr>
            <a:spLocks noGrp="1"/>
          </p:cNvSpPr>
          <p:nvPr/>
        </p:nvSpPr>
        <p:spPr>
          <a:xfrm>
            <a:off x="12090400" y="5772150"/>
            <a:ext cx="5549900" cy="3333750"/>
          </a:xfrm>
          <a:prstGeom prst="roundRect">
            <a:avLst>
              <a:gd name="adj" fmla="val 5714"/>
            </a:avLst>
          </a:prstGeom>
          <a:solidFill>
            <a:srgbClr val="0D2237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C41147B-C961-44F9-A2D7-B0C3F74996C0}"/>
              </a:ext>
            </a:extLst>
          </p:cNvPr>
          <p:cNvSpPr>
            <a:spLocks noGrp="1"/>
          </p:cNvSpPr>
          <p:nvPr/>
        </p:nvSpPr>
        <p:spPr>
          <a:xfrm>
            <a:off x="12306300" y="5981700"/>
            <a:ext cx="51244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7CCFB1"/>
                </a:solidFill>
              </a:defRPr>
            </a:pPr>
            <a:r>
              <a:rPr sz="1350" b="1">
                <a:solidFill>
                  <a:srgbClr val="7CCFB1"/>
                </a:solidFill>
              </a:rPr>
              <a:t>06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31B1E9-187B-4426-B0DD-1398B07AB613}"/>
              </a:ext>
            </a:extLst>
          </p:cNvPr>
          <p:cNvSpPr>
            <a:spLocks noGrp="1"/>
          </p:cNvSpPr>
          <p:nvPr/>
        </p:nvSpPr>
        <p:spPr>
          <a:xfrm>
            <a:off x="12306300" y="6248400"/>
            <a:ext cx="17907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Admin + reporting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337837-0F21-4991-BCDF-F512DEF355AF}"/>
              </a:ext>
            </a:extLst>
          </p:cNvPr>
          <p:cNvSpPr>
            <a:spLocks noGrp="1"/>
          </p:cNvSpPr>
          <p:nvPr/>
        </p:nvSpPr>
        <p:spPr>
          <a:xfrm>
            <a:off x="12306300" y="6762750"/>
            <a:ext cx="14478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Portfolio summaries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F139B5-6308-4358-A582-83AF10D0539F}"/>
              </a:ext>
            </a:extLst>
          </p:cNvPr>
          <p:cNvSpPr>
            <a:spLocks noGrp="1"/>
          </p:cNvSpPr>
          <p:nvPr/>
        </p:nvSpPr>
        <p:spPr>
          <a:xfrm>
            <a:off x="12306300" y="7162800"/>
            <a:ext cx="21336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A7B4C1"/>
                </a:solidFill>
              </a:defRPr>
            </a:pPr>
            <a:r>
              <a:rPr sz="1200">
                <a:solidFill>
                  <a:srgbClr val="A7B4C1"/>
                </a:solidFill>
              </a:rPr>
              <a:t>• Admin oversight and analytics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48CE49-F3C1-4EFE-922F-131A65781660}"/>
              </a:ext>
            </a:extLst>
          </p:cNvPr>
          <p:cNvSpPr>
            <a:spLocks noGrp="1"/>
          </p:cNvSpPr>
          <p:nvPr/>
        </p:nvSpPr>
        <p:spPr>
          <a:xfrm>
            <a:off x="647700" y="9315450"/>
            <a:ext cx="145351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A6645A2-2CB3-4036-954C-775D84BC2B9B}"/>
              </a:ext>
            </a:extLst>
          </p:cNvPr>
          <p:cNvSpPr>
            <a:spLocks noGrp="1"/>
          </p:cNvSpPr>
          <p:nvPr/>
        </p:nvSpPr>
        <p:spPr>
          <a:xfrm>
            <a:off x="15182850" y="931545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49871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03FCF516-E78F-441D-8E4F-A426FDEFFE2B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695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05 | Updates After the Initial Project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E6FF51-E4A3-4159-B478-D316E49EC4E5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107442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 dirty="0">
                <a:solidFill>
                  <a:srgbClr val="FFFFFF"/>
                </a:solidFill>
              </a:rPr>
              <a:t>The current build is significantly more complete than the first submission.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869B03-4D85-4457-8483-03C0A7161032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69913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We expanded both user-facing workflows and backend governance depth.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77D3F38-56E0-4B5A-B4B6-BF0993E8E79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6523101" cy="6991350"/>
          </a:xfrm>
          <a:prstGeom prst="roundRect">
            <a:avLst>
              <a:gd name="adj" fmla="val 3504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C2036-6C69-4F40-B7D0-0D0C5C1DDCCC}"/>
              </a:ext>
            </a:extLst>
          </p:cNvPr>
          <p:cNvSpPr>
            <a:spLocks noGrp="1"/>
          </p:cNvSpPr>
          <p:nvPr/>
        </p:nvSpPr>
        <p:spPr>
          <a:xfrm>
            <a:off x="895350" y="2495550"/>
            <a:ext cx="6057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Initial project scope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360EA-E9E1-4D00-983A-5962B293700F}"/>
              </a:ext>
            </a:extLst>
          </p:cNvPr>
          <p:cNvSpPr>
            <a:spLocks noGrp="1"/>
          </p:cNvSpPr>
          <p:nvPr/>
        </p:nvSpPr>
        <p:spPr>
          <a:xfrm>
            <a:off x="895350" y="2838450"/>
            <a:ext cx="28003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Core circle and contribution idea.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463ADB-0052-4910-83DA-A30A5014351B}"/>
              </a:ext>
            </a:extLst>
          </p:cNvPr>
          <p:cNvSpPr>
            <a:spLocks noGrp="1"/>
          </p:cNvSpPr>
          <p:nvPr/>
        </p:nvSpPr>
        <p:spPr>
          <a:xfrm>
            <a:off x="895350" y="3143250"/>
            <a:ext cx="33909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Foundational authentication and routing.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F6DBA3-5429-4B79-ABE9-211A4A61A0F9}"/>
              </a:ext>
            </a:extLst>
          </p:cNvPr>
          <p:cNvSpPr>
            <a:spLocks noGrp="1"/>
          </p:cNvSpPr>
          <p:nvPr/>
        </p:nvSpPr>
        <p:spPr>
          <a:xfrm>
            <a:off x="895350" y="3619500"/>
            <a:ext cx="34861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Basic proposal/project workflow concept.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9185F1-0A73-4738-BAE2-B1583926F673}"/>
              </a:ext>
            </a:extLst>
          </p:cNvPr>
          <p:cNvSpPr>
            <a:spLocks noGrp="1"/>
          </p:cNvSpPr>
          <p:nvPr/>
        </p:nvSpPr>
        <p:spPr>
          <a:xfrm>
            <a:off x="895350" y="4095750"/>
            <a:ext cx="36385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 b="1">
                <a:solidFill>
                  <a:srgbClr val="163A5F"/>
                </a:solidFill>
              </a:defRPr>
            </a:pPr>
            <a:r>
              <a:rPr sz="1500" b="1">
                <a:solidFill>
                  <a:srgbClr val="163A5F"/>
                </a:solidFill>
              </a:rPr>
              <a:t>Current project extends that into a fuller product experience.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2B67673-BA0C-4F75-947B-7E8DBA602BEB}"/>
              </a:ext>
            </a:extLst>
          </p:cNvPr>
          <p:cNvSpPr>
            <a:spLocks noGrp="1"/>
          </p:cNvSpPr>
          <p:nvPr/>
        </p:nvSpPr>
        <p:spPr>
          <a:xfrm>
            <a:off x="7418451" y="2266950"/>
            <a:ext cx="10202799" cy="1633538"/>
          </a:xfrm>
          <a:prstGeom prst="roundRect">
            <a:avLst>
              <a:gd name="adj" fmla="val 1282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8BADB5-9F6D-4D7F-938D-302E422DB7F0}"/>
              </a:ext>
            </a:extLst>
          </p:cNvPr>
          <p:cNvSpPr>
            <a:spLocks noGrp="1"/>
          </p:cNvSpPr>
          <p:nvPr/>
        </p:nvSpPr>
        <p:spPr>
          <a:xfrm>
            <a:off x="7639050" y="2495550"/>
            <a:ext cx="685800" cy="47625"/>
          </a:xfrm>
          <a:prstGeom prst="rect">
            <a:avLst/>
          </a:prstGeom>
          <a:solidFill>
            <a:srgbClr val="F6C55B"/>
          </a:solidFill>
          <a:ln w="0">
            <a:solidFill>
              <a:srgbClr val="F6C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BF8797-26A8-43A2-8AA9-19878B97CD67}"/>
              </a:ext>
            </a:extLst>
          </p:cNvPr>
          <p:cNvSpPr>
            <a:spLocks noGrp="1"/>
          </p:cNvSpPr>
          <p:nvPr/>
        </p:nvSpPr>
        <p:spPr>
          <a:xfrm>
            <a:off x="7639050" y="2647950"/>
            <a:ext cx="975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Stronger auth + onboarding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489F72-4CF7-4D7C-94AF-373CFAA6FD28}"/>
              </a:ext>
            </a:extLst>
          </p:cNvPr>
          <p:cNvSpPr>
            <a:spLocks noGrp="1"/>
          </p:cNvSpPr>
          <p:nvPr/>
        </p:nvSpPr>
        <p:spPr>
          <a:xfrm>
            <a:off x="7639050" y="2971800"/>
            <a:ext cx="29527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Email verification, password reset, refresh-token rotation, and onboarding steps now shape the first-run experience.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F657A12-E71D-4818-8F54-2C29552B41EC}"/>
              </a:ext>
            </a:extLst>
          </p:cNvPr>
          <p:cNvSpPr>
            <a:spLocks noGrp="1"/>
          </p:cNvSpPr>
          <p:nvPr/>
        </p:nvSpPr>
        <p:spPr>
          <a:xfrm>
            <a:off x="7418451" y="4052888"/>
            <a:ext cx="10202799" cy="1633538"/>
          </a:xfrm>
          <a:prstGeom prst="roundRect">
            <a:avLst>
              <a:gd name="adj" fmla="val 1282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8328AC-0AB7-4EB5-A744-B1E9E1AE43F9}"/>
              </a:ext>
            </a:extLst>
          </p:cNvPr>
          <p:cNvSpPr>
            <a:spLocks noGrp="1"/>
          </p:cNvSpPr>
          <p:nvPr/>
        </p:nvSpPr>
        <p:spPr>
          <a:xfrm>
            <a:off x="7639050" y="4286250"/>
            <a:ext cx="685800" cy="47625"/>
          </a:xfrm>
          <a:prstGeom prst="rect">
            <a:avLst/>
          </a:prstGeom>
          <a:solidFill>
            <a:srgbClr val="7CCFB1"/>
          </a:solidFill>
          <a:ln w="0">
            <a:solidFill>
              <a:srgbClr val="7CC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0E84B1-9B0A-44AC-AAEC-C563F53AAF93}"/>
              </a:ext>
            </a:extLst>
          </p:cNvPr>
          <p:cNvSpPr>
            <a:spLocks noGrp="1"/>
          </p:cNvSpPr>
          <p:nvPr/>
        </p:nvSpPr>
        <p:spPr>
          <a:xfrm>
            <a:off x="7639050" y="4419600"/>
            <a:ext cx="975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Broader discovery + 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95509F-9A7F-4ADE-BA11-0DF967712428}"/>
              </a:ext>
            </a:extLst>
          </p:cNvPr>
          <p:cNvSpPr>
            <a:spLocks noGrp="1"/>
          </p:cNvSpPr>
          <p:nvPr/>
        </p:nvSpPr>
        <p:spPr>
          <a:xfrm>
            <a:off x="7639050" y="4743450"/>
            <a:ext cx="30670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Public explore listings, circle privacy settings, invite-code join flow, and membership-request management were added.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3CC5A5-1449-4766-BE67-097A7403B51E}"/>
              </a:ext>
            </a:extLst>
          </p:cNvPr>
          <p:cNvSpPr>
            <a:spLocks noGrp="1"/>
          </p:cNvSpPr>
          <p:nvPr/>
        </p:nvSpPr>
        <p:spPr>
          <a:xfrm>
            <a:off x="7418451" y="5838825"/>
            <a:ext cx="10202799" cy="1633538"/>
          </a:xfrm>
          <a:prstGeom prst="roundRect">
            <a:avLst>
              <a:gd name="adj" fmla="val 1282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DE1750-810D-4F26-BA2E-97B892C4085B}"/>
              </a:ext>
            </a:extLst>
          </p:cNvPr>
          <p:cNvSpPr>
            <a:spLocks noGrp="1"/>
          </p:cNvSpPr>
          <p:nvPr/>
        </p:nvSpPr>
        <p:spPr>
          <a:xfrm>
            <a:off x="7639050" y="6076950"/>
            <a:ext cx="685800" cy="47625"/>
          </a:xfrm>
          <a:prstGeom prst="rect">
            <a:avLst/>
          </a:prstGeom>
          <a:solidFill>
            <a:srgbClr val="F6C55B"/>
          </a:solidFill>
          <a:ln w="0">
            <a:solidFill>
              <a:srgbClr val="F6C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25C4AD-0029-4FE1-8025-5D14B8AFC1BD}"/>
              </a:ext>
            </a:extLst>
          </p:cNvPr>
          <p:cNvSpPr>
            <a:spLocks noGrp="1"/>
          </p:cNvSpPr>
          <p:nvPr/>
        </p:nvSpPr>
        <p:spPr>
          <a:xfrm>
            <a:off x="7639050" y="6210300"/>
            <a:ext cx="975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Richer governance operations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7EAA57-DD74-49EB-9167-84443508424F}"/>
              </a:ext>
            </a:extLst>
          </p:cNvPr>
          <p:cNvSpPr>
            <a:spLocks noGrp="1"/>
          </p:cNvSpPr>
          <p:nvPr/>
        </p:nvSpPr>
        <p:spPr>
          <a:xfrm>
            <a:off x="7639050" y="6534150"/>
            <a:ext cx="2781300" cy="8572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Contribution proof uploads, treasury balances, proposal voting, proposal closing, and project execution are integrated end to end.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8AF1D25-6A27-4AB3-B755-888FDD09DAC9}"/>
              </a:ext>
            </a:extLst>
          </p:cNvPr>
          <p:cNvSpPr>
            <a:spLocks noGrp="1"/>
          </p:cNvSpPr>
          <p:nvPr/>
        </p:nvSpPr>
        <p:spPr>
          <a:xfrm>
            <a:off x="7418451" y="7624763"/>
            <a:ext cx="10202799" cy="1633538"/>
          </a:xfrm>
          <a:prstGeom prst="roundRect">
            <a:avLst>
              <a:gd name="adj" fmla="val 12828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38F0B7-4FB4-4B37-B73E-60BF9CAF4575}"/>
              </a:ext>
            </a:extLst>
          </p:cNvPr>
          <p:cNvSpPr>
            <a:spLocks noGrp="1"/>
          </p:cNvSpPr>
          <p:nvPr/>
        </p:nvSpPr>
        <p:spPr>
          <a:xfrm>
            <a:off x="7639050" y="7848600"/>
            <a:ext cx="685800" cy="47625"/>
          </a:xfrm>
          <a:prstGeom prst="rect">
            <a:avLst/>
          </a:prstGeom>
          <a:solidFill>
            <a:srgbClr val="7CCFB1"/>
          </a:solidFill>
          <a:ln w="0">
            <a:solidFill>
              <a:srgbClr val="7CCF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9627F8-6F8B-46A2-A545-6084DB5321F4}"/>
              </a:ext>
            </a:extLst>
          </p:cNvPr>
          <p:cNvSpPr>
            <a:spLocks noGrp="1"/>
          </p:cNvSpPr>
          <p:nvPr/>
        </p:nvSpPr>
        <p:spPr>
          <a:xfrm>
            <a:off x="7639050" y="8001000"/>
            <a:ext cx="9753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Operational visibility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2F15FF-23CE-458B-9642-CB5B4BC98895}"/>
              </a:ext>
            </a:extLst>
          </p:cNvPr>
          <p:cNvSpPr>
            <a:spLocks noGrp="1"/>
          </p:cNvSpPr>
          <p:nvPr/>
        </p:nvSpPr>
        <p:spPr>
          <a:xfrm>
            <a:off x="7639050" y="8324850"/>
            <a:ext cx="312420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B8E6D3"/>
                </a:solidFill>
              </a:defRPr>
            </a:pPr>
            <a:r>
              <a:rPr sz="1350">
                <a:solidFill>
                  <a:srgbClr val="B8E6D3"/>
                </a:solidFill>
              </a:rPr>
              <a:t>Portfolio pages, notification flows, audit logging, support flags, analytics, and admin dashboards expanded the system beyond the MVP shell.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F6FCF8-6336-4404-B2CB-C5B9544E5036}"/>
              </a:ext>
            </a:extLst>
          </p:cNvPr>
          <p:cNvSpPr>
            <a:spLocks noGrp="1"/>
          </p:cNvSpPr>
          <p:nvPr/>
        </p:nvSpPr>
        <p:spPr>
          <a:xfrm>
            <a:off x="666750" y="9486900"/>
            <a:ext cx="14497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5A23A1-F5B5-44E2-8189-1C549EB3FC48}"/>
              </a:ext>
            </a:extLst>
          </p:cNvPr>
          <p:cNvSpPr>
            <a:spLocks noGrp="1"/>
          </p:cNvSpPr>
          <p:nvPr/>
        </p:nvSpPr>
        <p:spPr>
          <a:xfrm>
            <a:off x="15163800" y="948690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1514442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1E9D4CD-27C2-4859-B1F9-A472FA835F17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1695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F6C55B"/>
                </a:solidFill>
              </a:defRPr>
            </a:pPr>
            <a:r>
              <a:rPr sz="1350" b="1">
                <a:solidFill>
                  <a:srgbClr val="F6C55B"/>
                </a:solidFill>
              </a:rPr>
              <a:t>06 | Live Demo Plan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C96A92-CA68-42BE-9FA2-2CB35E0C154C}"/>
              </a:ext>
            </a:extLst>
          </p:cNvPr>
          <p:cNvSpPr>
            <a:spLocks noGrp="1"/>
          </p:cNvSpPr>
          <p:nvPr/>
        </p:nvSpPr>
        <p:spPr>
          <a:xfrm>
            <a:off x="666750" y="933450"/>
            <a:ext cx="100393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Our demo will follow one continuous story instead of jumping between unrelated pages.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2EBBB-97B3-4357-BCF9-140ED8412E76}"/>
              </a:ext>
            </a:extLst>
          </p:cNvPr>
          <p:cNvSpPr>
            <a:spLocks noGrp="1"/>
          </p:cNvSpPr>
          <p:nvPr/>
        </p:nvSpPr>
        <p:spPr>
          <a:xfrm>
            <a:off x="666750" y="1828800"/>
            <a:ext cx="72961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A7B4C1"/>
                </a:solidFill>
              </a:defRPr>
            </a:pPr>
            <a:r>
              <a:rPr sz="1650">
                <a:solidFill>
                  <a:srgbClr val="A7B4C1"/>
                </a:solidFill>
              </a:rPr>
              <a:t>That keeps the audience focused on the workflow and the updates we added.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AC8511-B706-405C-BC81-C299278D8D45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8791099" cy="6991350"/>
          </a:xfrm>
          <a:prstGeom prst="roundRect">
            <a:avLst>
              <a:gd name="adj" fmla="val 3270"/>
            </a:avLst>
          </a:prstGeom>
          <a:solidFill>
            <a:srgbClr val="0F2740"/>
          </a:solidFill>
          <a:ln w="9525">
            <a:solidFill>
              <a:srgbClr val="28486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D69E6-5B22-40C4-BB2A-7DCA298846B6}"/>
              </a:ext>
            </a:extLst>
          </p:cNvPr>
          <p:cNvSpPr>
            <a:spLocks noGrp="1"/>
          </p:cNvSpPr>
          <p:nvPr/>
        </p:nvSpPr>
        <p:spPr>
          <a:xfrm>
            <a:off x="914400" y="2514600"/>
            <a:ext cx="82867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Demo sequence (5-8 min)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7C773E-54F8-4680-B99B-BA5067E980B0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46482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Login with a prepared account and show the dashboard summary.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72A7F9-2C85-4D34-8F54-5B90E6552D65}"/>
              </a:ext>
            </a:extLst>
          </p:cNvPr>
          <p:cNvSpPr>
            <a:spLocks noGrp="1"/>
          </p:cNvSpPr>
          <p:nvPr/>
        </p:nvSpPr>
        <p:spPr>
          <a:xfrm>
            <a:off x="914400" y="3333750"/>
            <a:ext cx="45148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Create or open a circle and explain roles, treasury, and governance settings.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9D795-DF0E-4EEE-A7CC-2BB4965EECD4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4667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Submit a contribution, then verify it as an admin to show the balance update.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8C3BAF-3092-44A7-ABE2-9665768DB793}"/>
              </a:ext>
            </a:extLst>
          </p:cNvPr>
          <p:cNvSpPr>
            <a:spLocks noGrp="1"/>
          </p:cNvSpPr>
          <p:nvPr/>
        </p:nvSpPr>
        <p:spPr>
          <a:xfrm>
            <a:off x="914400" y="4286250"/>
            <a:ext cx="45529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Create a proposal, cast votes, and show how a passed proposal becomes a project.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49C0E4-73E9-4A32-A330-E83CFAD67E6A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42862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B8E6D3"/>
                </a:solidFill>
              </a:defRPr>
            </a:pPr>
            <a:r>
              <a:rPr sz="1425">
                <a:solidFill>
                  <a:srgbClr val="B8E6D3"/>
                </a:solidFill>
              </a:rPr>
              <a:t>• Open the project page and show progress updates, portfolio visibility, or admin tooling.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706512-3F9B-47FA-B402-7F62E683B78F}"/>
              </a:ext>
            </a:extLst>
          </p:cNvPr>
          <p:cNvSpPr>
            <a:spLocks noGrp="1"/>
          </p:cNvSpPr>
          <p:nvPr/>
        </p:nvSpPr>
        <p:spPr>
          <a:xfrm>
            <a:off x="9667399" y="2266950"/>
            <a:ext cx="7953851" cy="6991350"/>
          </a:xfrm>
          <a:prstGeom prst="roundRect">
            <a:avLst>
              <a:gd name="adj" fmla="val 3270"/>
            </a:avLst>
          </a:prstGeom>
          <a:solidFill>
            <a:srgbClr val="F5F1E8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ADF9002-A2F0-4E70-B3AD-7D2BCFF1C42F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74676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63A5F"/>
                </a:solidFill>
              </a:defRPr>
            </a:pPr>
            <a:r>
              <a:rPr sz="1800" b="1">
                <a:solidFill>
                  <a:srgbClr val="163A5F"/>
                </a:solidFill>
              </a:rPr>
              <a:t>What the class should notice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BE9474-4E8A-4E66-94BB-357D37D811F7}"/>
              </a:ext>
            </a:extLst>
          </p:cNvPr>
          <p:cNvSpPr>
            <a:spLocks noGrp="1"/>
          </p:cNvSpPr>
          <p:nvPr/>
        </p:nvSpPr>
        <p:spPr>
          <a:xfrm>
            <a:off x="9906000" y="2857500"/>
            <a:ext cx="42291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The same user journey touches frontend, backend, and database-backed state.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077182-1A52-4E20-AA89-870D62F9F574}"/>
              </a:ext>
            </a:extLst>
          </p:cNvPr>
          <p:cNvSpPr>
            <a:spLocks noGrp="1"/>
          </p:cNvSpPr>
          <p:nvPr/>
        </p:nvSpPr>
        <p:spPr>
          <a:xfrm>
            <a:off x="9906000" y="3333750"/>
            <a:ext cx="40957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Governance decisions are not simulated in the UI alone; they change system state.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ACA45C-D03F-4916-A783-F56BD5E54B10}"/>
              </a:ext>
            </a:extLst>
          </p:cNvPr>
          <p:cNvSpPr>
            <a:spLocks noGrp="1"/>
          </p:cNvSpPr>
          <p:nvPr/>
        </p:nvSpPr>
        <p:spPr>
          <a:xfrm>
            <a:off x="9906000" y="3810000"/>
            <a:ext cx="3752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The post-initial-project updates appear in the verification, invite, portfolio, and admin flows.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0833F2-DA2F-46BB-8FC4-2B9FDCFEB745}"/>
              </a:ext>
            </a:extLst>
          </p:cNvPr>
          <p:cNvSpPr>
            <a:spLocks noGrp="1"/>
          </p:cNvSpPr>
          <p:nvPr/>
        </p:nvSpPr>
        <p:spPr>
          <a:xfrm>
            <a:off x="9906000" y="4476750"/>
            <a:ext cx="42481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63A5F"/>
                </a:solidFill>
              </a:defRPr>
            </a:pPr>
            <a:r>
              <a:rPr sz="1425">
                <a:solidFill>
                  <a:srgbClr val="163A5F"/>
                </a:solidFill>
              </a:rPr>
              <a:t>• If a live action is slow, we can still show the resulting screens and explain the server logic behind them.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214A3D-9CEB-4281-9B40-0C554E37C6A3}"/>
              </a:ext>
            </a:extLst>
          </p:cNvPr>
          <p:cNvSpPr>
            <a:spLocks noGrp="1"/>
          </p:cNvSpPr>
          <p:nvPr/>
        </p:nvSpPr>
        <p:spPr>
          <a:xfrm>
            <a:off x="9906000" y="5124450"/>
            <a:ext cx="403860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071526"/>
                </a:solidFill>
              </a:defRPr>
            </a:pPr>
            <a:r>
              <a:rPr sz="1650" b="1">
                <a:solidFill>
                  <a:srgbClr val="071526"/>
                </a:solidFill>
              </a:rPr>
              <a:t>End on the project value: transparency + collective action for diaspora communities.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FC4026-8668-45ED-9756-DF4B6377BFD0}"/>
              </a:ext>
            </a:extLst>
          </p:cNvPr>
          <p:cNvSpPr>
            <a:spLocks noGrp="1"/>
          </p:cNvSpPr>
          <p:nvPr/>
        </p:nvSpPr>
        <p:spPr>
          <a:xfrm>
            <a:off x="666750" y="9486900"/>
            <a:ext cx="144970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Mukwano | Final Project Presentation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2FE58A-FCA7-44F3-B10D-D4D679A9B0D0}"/>
              </a:ext>
            </a:extLst>
          </p:cNvPr>
          <p:cNvSpPr>
            <a:spLocks noGrp="1"/>
          </p:cNvSpPr>
          <p:nvPr/>
        </p:nvSpPr>
        <p:spPr>
          <a:xfrm>
            <a:off x="15163800" y="9486900"/>
            <a:ext cx="2457450" cy="133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A7B4C1"/>
                </a:solidFill>
              </a:defRPr>
            </a:pPr>
            <a:r>
              <a:rPr sz="1050">
                <a:solidFill>
                  <a:srgbClr val="A7B4C1"/>
                </a:solidFill>
              </a:rPr>
              <a:t>Demo mode build | governance-first MVP</a:t>
            </a:r>
          </a:p>
        </p:txBody>
      </p:sp>
    </p:spTree>
    <p:extLst>
      <p:ext uri="{BB962C8B-B14F-4D97-AF65-F5344CB8AC3E}">
        <p14:creationId xmlns:p14="http://schemas.microsoft.com/office/powerpoint/2010/main" val="15523622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1322</Words>
  <Application>Microsoft Macintosh PowerPoint</Application>
  <DocSecurity>0</DocSecurity>
  <PresentationFormat>Custom</PresentationFormat>
  <Paragraphs>171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Levi Cheptoyek</cp:lastModifiedBy>
  <cp:revision>1</cp:revision>
  <dcterms:created xsi:type="dcterms:W3CDTF">2026-04-27T14:31:03Z</dcterms:created>
  <dcterms:modified xsi:type="dcterms:W3CDTF">2026-04-27T19:59:41Z</dcterms:modified>
</cp:coreProperties>
</file>